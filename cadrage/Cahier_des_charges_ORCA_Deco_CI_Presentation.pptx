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72400" y="228600"/>
            <a:ext cx="914400" cy="568105"/>
          </a:xfrm>
          <a:prstGeom prst="rect">
            <a:avLst/>
          </a:prstGeom>
        </p:spPr>
      </p:pic>
      <p:sp>
        <p:nvSpPr>
          <p:cNvPr id="3"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rgbClr val="4A4F5C"/>
                </a:solidFill>
              </a:rPr>
              <a:t>ORCA DÉCO CI  •  CAHIER DES CHARGES VALIDÉ</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0B0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394960" y="914400"/>
            <a:ext cx="3291840" cy="3291840"/>
          </a:xfrm>
          <a:prstGeom prst="roundRect">
            <a:avLst>
              <a:gd name="adj" fmla="val 4167"/>
            </a:avLst>
          </a:prstGeom>
          <a:solidFill>
            <a:schemeClr val="bg1"/>
          </a:solidFill>
          <a:ln/>
        </p:spPr>
      </p:sp>
      <p:pic>
        <p:nvPicPr>
          <p:cNvPr id="3" name="Image 0" descr="preencoded.png">    </p:cNvPr>
          <p:cNvPicPr>
            <a:picLocks noChangeAspect="1"/>
          </p:cNvPicPr>
          <p:nvPr/>
        </p:nvPicPr>
        <p:blipFill>
          <a:blip r:embed="rId1"/>
          <a:stretch>
            <a:fillRect/>
          </a:stretch>
        </p:blipFill>
        <p:spPr>
          <a:xfrm>
            <a:off x="5577840" y="1651352"/>
            <a:ext cx="2926080" cy="1817936"/>
          </a:xfrm>
          <a:prstGeom prst="rect">
            <a:avLst/>
          </a:prstGeom>
        </p:spPr>
      </p:pic>
      <p:sp>
        <p:nvSpPr>
          <p:cNvPr id="4" name="Shape 1"/>
          <p:cNvSpPr/>
          <p:nvPr/>
        </p:nvSpPr>
        <p:spPr>
          <a:xfrm>
            <a:off x="457200" y="822960"/>
            <a:ext cx="2377440" cy="329184"/>
          </a:xfrm>
          <a:prstGeom prst="roundRect">
            <a:avLst>
              <a:gd name="adj" fmla="val 50000"/>
            </a:avLst>
          </a:prstGeom>
          <a:solidFill>
            <a:schemeClr val="accent1"/>
          </a:solidFill>
          <a:ln/>
        </p:spPr>
      </p:sp>
      <p:sp>
        <p:nvSpPr>
          <p:cNvPr id="5" name="Text 2"/>
          <p:cNvSpPr txBox="1"/>
          <p:nvPr/>
        </p:nvSpPr>
        <p:spPr>
          <a:xfrm>
            <a:off x="457200" y="822960"/>
            <a:ext cx="2377440" cy="329184"/>
          </a:xfrm>
          <a:prstGeom prst="rect">
            <a:avLst/>
          </a:prstGeom>
          <a:noFill/>
          <a:ln/>
        </p:spPr>
        <p:txBody>
          <a:bodyPr wrap="square" lIns="0" tIns="0" rIns="0" bIns="0" rtlCol="0" anchor="ctr"/>
          <a:lstStyle/>
          <a:p>
            <a:pPr algn="ctr" indent="0" marL="0">
              <a:buNone/>
            </a:pPr>
            <a:r>
              <a:rPr lang="en-US" sz="1100" b="1" dirty="0">
                <a:solidFill>
                  <a:schemeClr val="bg1"/>
                </a:solidFill>
              </a:rPr>
              <a:t>CAHIER DES CHARGES VALIDÉ</a:t>
            </a:r>
            <a:endParaRPr lang="en-US" sz="1100" dirty="0"/>
          </a:p>
        </p:txBody>
      </p:sp>
      <p:sp>
        <p:nvSpPr>
          <p:cNvPr id="6" name="Text 3"/>
          <p:cNvSpPr txBox="1"/>
          <p:nvPr/>
        </p:nvSpPr>
        <p:spPr>
          <a:xfrm>
            <a:off x="457200" y="1371600"/>
            <a:ext cx="4663440" cy="365760"/>
          </a:xfrm>
          <a:prstGeom prst="rect">
            <a:avLst/>
          </a:prstGeom>
          <a:noFill/>
          <a:ln/>
        </p:spPr>
        <p:txBody>
          <a:bodyPr wrap="square" lIns="0" tIns="0" rIns="0" bIns="0" rtlCol="0" anchor="ctr"/>
          <a:lstStyle/>
          <a:p>
            <a:pPr indent="0" marL="0">
              <a:buNone/>
            </a:pPr>
            <a:r>
              <a:rPr lang="en-US" sz="1600" b="1" spc="300" kern="0" dirty="0">
                <a:solidFill>
                  <a:schemeClr val="accent3"/>
                </a:solidFill>
              </a:rPr>
              <a:t>ORCA DÉCO CI</a:t>
            </a:r>
            <a:endParaRPr lang="en-US" sz="1600" dirty="0"/>
          </a:p>
        </p:txBody>
      </p:sp>
      <p:sp>
        <p:nvSpPr>
          <p:cNvPr id="7" name="Text 4"/>
          <p:cNvSpPr txBox="1"/>
          <p:nvPr/>
        </p:nvSpPr>
        <p:spPr>
          <a:xfrm>
            <a:off x="457200" y="1783080"/>
            <a:ext cx="4754880" cy="731520"/>
          </a:xfrm>
          <a:prstGeom prst="rect">
            <a:avLst/>
          </a:prstGeom>
          <a:noFill/>
          <a:ln/>
        </p:spPr>
        <p:txBody>
          <a:bodyPr wrap="square" lIns="0" tIns="0" rIns="0" bIns="0" rtlCol="0" anchor="ctr"/>
          <a:lstStyle/>
          <a:p>
            <a:pPr indent="0" marL="0">
              <a:buNone/>
            </a:pPr>
            <a:r>
              <a:rPr lang="en-US" sz="3800" b="1" dirty="0">
                <a:solidFill>
                  <a:schemeClr val="bg1"/>
                </a:solidFill>
              </a:rPr>
              <a:t>Cahier des charges</a:t>
            </a:r>
            <a:endParaRPr lang="en-US" sz="3800" dirty="0"/>
          </a:p>
        </p:txBody>
      </p:sp>
      <p:sp>
        <p:nvSpPr>
          <p:cNvPr id="8" name="Text 5"/>
          <p:cNvSpPr txBox="1"/>
          <p:nvPr/>
        </p:nvSpPr>
        <p:spPr>
          <a:xfrm>
            <a:off x="457200" y="2651760"/>
            <a:ext cx="4663440" cy="822960"/>
          </a:xfrm>
          <a:prstGeom prst="rect">
            <a:avLst/>
          </a:prstGeom>
          <a:noFill/>
          <a:ln/>
        </p:spPr>
        <p:txBody>
          <a:bodyPr wrap="square" lIns="0" tIns="0" rIns="0" bIns="0" rtlCol="0" anchor="ctr"/>
          <a:lstStyle/>
          <a:p>
            <a:pPr indent="0" marL="0">
              <a:buNone/>
            </a:pPr>
            <a:r>
              <a:rPr lang="en-US" sz="1800" dirty="0">
                <a:solidFill>
                  <a:schemeClr val="bg1"/>
                </a:solidFill>
              </a:rPr>
              <a:t>Intégration du paiement Mobile Money au système de gestion des ventes</a:t>
            </a:r>
            <a:endParaRPr lang="en-US" sz="1800" dirty="0"/>
          </a:p>
        </p:txBody>
      </p:sp>
      <p:sp>
        <p:nvSpPr>
          <p:cNvPr id="9" name="Text 6"/>
          <p:cNvSpPr txBox="1"/>
          <p:nvPr/>
        </p:nvSpPr>
        <p:spPr>
          <a:xfrm>
            <a:off x="457200" y="4114800"/>
            <a:ext cx="4754880" cy="274320"/>
          </a:xfrm>
          <a:prstGeom prst="rect">
            <a:avLst/>
          </a:prstGeom>
          <a:noFill/>
          <a:ln/>
        </p:spPr>
        <p:txBody>
          <a:bodyPr wrap="square" lIns="0" tIns="0" rIns="0" bIns="0" rtlCol="0" anchor="ctr"/>
          <a:lstStyle/>
          <a:p>
            <a:pPr indent="0" marL="0">
              <a:buNone/>
            </a:pPr>
            <a:r>
              <a:rPr lang="en-US" sz="1200" dirty="0">
                <a:solidFill>
                  <a:schemeClr val="accent3"/>
                </a:solidFill>
              </a:rPr>
              <a:t>Projet académique — L3 Génie logiciel  •  Octobre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01 • VUE D’ENSEMBLE</a:t>
            </a:r>
            <a:endParaRPr lang="en-US" sz="1100" dirty="0"/>
          </a:p>
        </p:txBody>
      </p:sp>
      <p:sp>
        <p:nvSpPr>
          <p:cNvPr id="3" name="Text 1"/>
          <p:cNvSpPr/>
          <p:nvPr/>
        </p:nvSpPr>
        <p:spPr>
          <a:xfrm>
            <a:off x="0" y="0"/>
            <a:ext cx="6858000" cy="0"/>
          </a:xfrm>
          <a:prstGeom prst="rect">
            <a:avLst/>
          </a:prstGeom>
          <a:noFill/>
          <a:ln/>
        </p:spPr>
        <p:txBody>
          <a:bodyPr wrap="square" rtlCol="0"/>
          <a:lstStyle/>
          <a:p>
            <a:pPr indent="0" marL="0">
              <a:buNone/>
            </a:pPr>
            <a:r>
              <a:rPr lang="en-US" dirty="0"/>
              <a:t>Synthèse du projet</a:t>
            </a:r>
            <a:endParaRPr lang="en-US" dirty="0"/>
          </a:p>
        </p:txBody>
      </p:sp>
      <p:sp>
        <p:nvSpPr>
          <p:cNvPr id="4" name="Shape 2"/>
          <p:cNvSpPr/>
          <p:nvPr/>
        </p:nvSpPr>
        <p:spPr>
          <a:xfrm>
            <a:off x="457200" y="1325880"/>
            <a:ext cx="2651760" cy="1737360"/>
          </a:xfrm>
          <a:prstGeom prst="roundRect">
            <a:avLst>
              <a:gd name="adj" fmla="val 4211"/>
            </a:avLst>
          </a:prstGeom>
          <a:solidFill>
            <a:schemeClr val="bg2"/>
          </a:solidFill>
          <a:ln/>
        </p:spPr>
      </p:sp>
      <p:sp>
        <p:nvSpPr>
          <p:cNvPr id="5" name="Text 3"/>
          <p:cNvSpPr txBox="1"/>
          <p:nvPr/>
        </p:nvSpPr>
        <p:spPr>
          <a:xfrm>
            <a:off x="640080" y="1463040"/>
            <a:ext cx="2286000" cy="146304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Constat</a:t>
            </a:r>
            <a:endParaRPr lang="en-US" sz="1500" dirty="0"/>
          </a:p>
          <a:p>
            <a:pPr indent="0" marL="0">
              <a:buNone/>
            </a:pPr>
            <a:r>
              <a:rPr lang="en-US" sz="1400" dirty="0">
                <a:solidFill>
                  <a:schemeClr val="tx1"/>
                </a:solidFill>
              </a:rPr>
              <a:t>ORCA dispose déjà d’un système de gestion. Le besoin prioritaire : l’intégration du paiement Mobile Money.</a:t>
            </a:r>
            <a:endParaRPr lang="en-US" sz="1500" dirty="0"/>
          </a:p>
        </p:txBody>
      </p:sp>
      <p:sp>
        <p:nvSpPr>
          <p:cNvPr id="6" name="Shape 4"/>
          <p:cNvSpPr/>
          <p:nvPr/>
        </p:nvSpPr>
        <p:spPr>
          <a:xfrm>
            <a:off x="3246120" y="1325880"/>
            <a:ext cx="2651760" cy="1737360"/>
          </a:xfrm>
          <a:prstGeom prst="roundRect">
            <a:avLst>
              <a:gd name="adj" fmla="val 4211"/>
            </a:avLst>
          </a:prstGeom>
          <a:solidFill>
            <a:schemeClr val="bg2"/>
          </a:solidFill>
          <a:ln/>
        </p:spPr>
      </p:sp>
      <p:sp>
        <p:nvSpPr>
          <p:cNvPr id="7" name="Text 5"/>
          <p:cNvSpPr txBox="1"/>
          <p:nvPr/>
        </p:nvSpPr>
        <p:spPr>
          <a:xfrm>
            <a:off x="3429000" y="1463040"/>
            <a:ext cx="2286000" cy="146304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Objectif</a:t>
            </a:r>
            <a:endParaRPr lang="en-US" sz="1500" dirty="0"/>
          </a:p>
          <a:p>
            <a:pPr indent="0" marL="0">
              <a:buNone/>
            </a:pPr>
            <a:r>
              <a:rPr lang="en-US" sz="1400" dirty="0">
                <a:solidFill>
                  <a:schemeClr val="tx1"/>
                </a:solidFill>
              </a:rPr>
              <a:t>Intégrer un paiement fiable pour les ventes en ligne et en magasin, sans remplacer les outils existants.</a:t>
            </a:r>
            <a:endParaRPr lang="en-US" sz="1500" dirty="0"/>
          </a:p>
        </p:txBody>
      </p:sp>
      <p:sp>
        <p:nvSpPr>
          <p:cNvPr id="8" name="Shape 6"/>
          <p:cNvSpPr/>
          <p:nvPr/>
        </p:nvSpPr>
        <p:spPr>
          <a:xfrm>
            <a:off x="6035040" y="1325880"/>
            <a:ext cx="2651760" cy="1737360"/>
          </a:xfrm>
          <a:prstGeom prst="roundRect">
            <a:avLst>
              <a:gd name="adj" fmla="val 4211"/>
            </a:avLst>
          </a:prstGeom>
          <a:solidFill>
            <a:schemeClr val="bg2"/>
          </a:solidFill>
          <a:ln/>
        </p:spPr>
      </p:sp>
      <p:sp>
        <p:nvSpPr>
          <p:cNvPr id="9" name="Text 7"/>
          <p:cNvSpPr txBox="1"/>
          <p:nvPr/>
        </p:nvSpPr>
        <p:spPr>
          <a:xfrm>
            <a:off x="6217920" y="1463040"/>
            <a:ext cx="2286000" cy="146304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Approche</a:t>
            </a:r>
            <a:endParaRPr lang="en-US" sz="1500" dirty="0"/>
          </a:p>
          <a:p>
            <a:pPr indent="0" marL="0">
              <a:buNone/>
            </a:pPr>
            <a:r>
              <a:rPr lang="en-US" sz="1400" dirty="0">
                <a:solidFill>
                  <a:schemeClr val="tx1"/>
                </a:solidFill>
              </a:rPr>
              <a:t>Formaliser les besoins, concevoir, puis tester un prototype réaliste.</a:t>
            </a:r>
            <a:endParaRPr lang="en-US" sz="1500" dirty="0"/>
          </a:p>
        </p:txBody>
      </p:sp>
      <p:sp>
        <p:nvSpPr>
          <p:cNvPr id="10" name="Shape 8"/>
          <p:cNvSpPr/>
          <p:nvPr/>
        </p:nvSpPr>
        <p:spPr>
          <a:xfrm>
            <a:off x="457200" y="3200400"/>
            <a:ext cx="8229600" cy="1325880"/>
          </a:xfrm>
          <a:prstGeom prst="roundRect">
            <a:avLst>
              <a:gd name="adj" fmla="val 5517"/>
            </a:avLst>
          </a:prstGeom>
          <a:solidFill>
            <a:schemeClr val="tx1"/>
          </a:solidFill>
          <a:ln/>
        </p:spPr>
      </p:sp>
      <p:sp>
        <p:nvSpPr>
          <p:cNvPr id="11" name="Text 9"/>
          <p:cNvSpPr txBox="1"/>
          <p:nvPr/>
        </p:nvSpPr>
        <p:spPr>
          <a:xfrm>
            <a:off x="640080" y="3337560"/>
            <a:ext cx="7863840" cy="1051560"/>
          </a:xfrm>
          <a:prstGeom prst="rect">
            <a:avLst/>
          </a:prstGeom>
          <a:noFill/>
          <a:ln/>
        </p:spPr>
        <p:txBody>
          <a:bodyPr wrap="square" lIns="0" tIns="0" rIns="0" bIns="0" rtlCol="0" anchor="t"/>
          <a:lstStyle/>
          <a:p>
            <a:pPr indent="0" marL="0">
              <a:spcAft>
                <a:spcPts val="500"/>
              </a:spcAft>
              <a:buNone/>
            </a:pPr>
            <a:r>
              <a:rPr lang="en-US" sz="1500" b="1" dirty="0">
                <a:solidFill>
                  <a:schemeClr val="accent3"/>
                </a:solidFill>
              </a:rPr>
              <a:t>Périmètre envisagé</a:t>
            </a:r>
            <a:endParaRPr lang="en-US" sz="1500" dirty="0"/>
          </a:p>
          <a:p>
            <a:pPr marL="342900" indent="-342900">
              <a:spcAft>
                <a:spcPts val="400"/>
              </a:spcAft>
              <a:buSzPct val="100000"/>
              <a:buChar char="•"/>
            </a:pPr>
            <a:r>
              <a:rPr lang="en-US" sz="1400" dirty="0">
                <a:solidFill>
                  <a:schemeClr val="bg1"/>
                </a:solidFill>
              </a:rPr>
              <a:t>Opérateurs : Orange Money, MTN MoMo, Wave et Moov Money</a:t>
            </a:r>
            <a:endParaRPr lang="en-US" sz="1500" dirty="0"/>
          </a:p>
          <a:p>
            <a:pPr marL="342900" indent="-342900">
              <a:spcAft>
                <a:spcPts val="400"/>
              </a:spcAft>
              <a:buSzPct val="100000"/>
              <a:buChar char="•"/>
            </a:pPr>
            <a:r>
              <a:rPr lang="en-US" sz="1400" dirty="0">
                <a:solidFill>
                  <a:schemeClr val="bg1"/>
                </a:solidFill>
              </a:rPr>
              <a:t>Canaux : achats en ligne et paiements en magasin</a:t>
            </a:r>
            <a:endParaRPr lang="en-US" sz="1500" dirty="0"/>
          </a:p>
          <a:p>
            <a:pPr marL="342900" indent="-342900">
              <a:spcAft>
                <a:spcPts val="400"/>
              </a:spcAft>
              <a:buSzPct val="100000"/>
              <a:buChar char="•"/>
            </a:pPr>
            <a:r>
              <a:rPr lang="en-US" sz="1400" dirty="0">
                <a:solidFill>
                  <a:schemeClr val="bg1"/>
                </a:solidFill>
              </a:rPr>
              <a:t>Intégrations selon les comptes marchands et l’accès aux API</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01 • VUE D’ENSEMBLE</a:t>
            </a:r>
            <a:endParaRPr lang="en-US" sz="1100" dirty="0"/>
          </a:p>
        </p:txBody>
      </p:sp>
      <p:sp>
        <p:nvSpPr>
          <p:cNvPr id="3" name="Text 1"/>
          <p:cNvSpPr/>
          <p:nvPr/>
        </p:nvSpPr>
        <p:spPr>
          <a:xfrm>
            <a:off x="0" y="0"/>
            <a:ext cx="6858000" cy="0"/>
          </a:xfrm>
          <a:prstGeom prst="rect">
            <a:avLst/>
          </a:prstGeom>
          <a:noFill/>
          <a:ln/>
        </p:spPr>
        <p:txBody>
          <a:bodyPr wrap="square" rtlCol="0"/>
          <a:lstStyle/>
          <a:p>
            <a:pPr indent="0" marL="0">
              <a:buNone/>
            </a:pPr>
            <a:r>
              <a:rPr lang="en-US" dirty="0"/>
              <a:t>Contexte et éléments recueillis</a:t>
            </a:r>
            <a:endParaRPr lang="en-US" dirty="0"/>
          </a:p>
        </p:txBody>
      </p:sp>
      <p:sp>
        <p:nvSpPr>
          <p:cNvPr id="4" name="Text 2"/>
          <p:cNvSpPr txBox="1"/>
          <p:nvPr/>
        </p:nvSpPr>
        <p:spPr>
          <a:xfrm>
            <a:off x="457200" y="1371600"/>
            <a:ext cx="5029200" cy="310896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chemeClr val="tx1"/>
                </a:solidFill>
              </a:rPr>
              <a:t>Le système actuel couvre déjà le stock, la gestion client et la facturation en ligne.</a:t>
            </a:r>
            <a:endParaRPr lang="en-US" sz="1400" dirty="0"/>
          </a:p>
          <a:p>
            <a:pPr marL="342900" indent="-342900">
              <a:spcAft>
                <a:spcPts val="1200"/>
              </a:spcAft>
              <a:buSzPct val="100000"/>
              <a:buChar char="•"/>
            </a:pPr>
            <a:r>
              <a:rPr lang="en-US" sz="1400" dirty="0">
                <a:solidFill>
                  <a:schemeClr val="tx1"/>
                </a:solidFill>
              </a:rPr>
              <a:t>Livraison et montage assurés gratuitement par ORCA.</a:t>
            </a:r>
            <a:endParaRPr lang="en-US" sz="1400" dirty="0"/>
          </a:p>
          <a:p>
            <a:pPr marL="342900" indent="-342900">
              <a:spcAft>
                <a:spcPts val="1200"/>
              </a:spcAft>
              <a:buSzPct val="100000"/>
              <a:buChar char="•"/>
            </a:pPr>
            <a:r>
              <a:rPr lang="en-US" sz="1400" dirty="0">
                <a:solidFill>
                  <a:schemeClr val="tx1"/>
                </a:solidFill>
              </a:rPr>
              <a:t>Sujets complémentaires évoqués : réductions, fiche de décharge client, gestion des livraisons.</a:t>
            </a:r>
            <a:endParaRPr lang="en-US" sz="1400" dirty="0"/>
          </a:p>
          <a:p>
            <a:pPr marL="342900" indent="-342900">
              <a:spcAft>
                <a:spcPts val="1200"/>
              </a:spcAft>
              <a:buSzPct val="100000"/>
              <a:buChar char="•"/>
            </a:pPr>
            <a:r>
              <a:rPr lang="en-US" sz="1400" dirty="0">
                <a:solidFill>
                  <a:schemeClr val="tx1"/>
                </a:solidFill>
              </a:rPr>
              <a:t>Point prioritaire de cette première version : le paiement Mobile Money, pas encore intégré.</a:t>
            </a:r>
            <a:endParaRPr lang="en-US" sz="1400" dirty="0"/>
          </a:p>
        </p:txBody>
      </p:sp>
      <p:sp>
        <p:nvSpPr>
          <p:cNvPr id="5" name="Shape 3"/>
          <p:cNvSpPr/>
          <p:nvPr/>
        </p:nvSpPr>
        <p:spPr>
          <a:xfrm>
            <a:off x="5760720" y="1325880"/>
            <a:ext cx="2926080" cy="3200400"/>
          </a:xfrm>
          <a:prstGeom prst="roundRect">
            <a:avLst>
              <a:gd name="adj" fmla="val 2500"/>
            </a:avLst>
          </a:prstGeom>
          <a:solidFill>
            <a:schemeClr val="tx1"/>
          </a:solidFill>
          <a:ln/>
        </p:spPr>
      </p:sp>
      <p:sp>
        <p:nvSpPr>
          <p:cNvPr id="6" name="Text 4"/>
          <p:cNvSpPr txBox="1"/>
          <p:nvPr/>
        </p:nvSpPr>
        <p:spPr>
          <a:xfrm>
            <a:off x="5989320" y="1554480"/>
            <a:ext cx="2468880" cy="2743200"/>
          </a:xfrm>
          <a:prstGeom prst="rect">
            <a:avLst/>
          </a:prstGeom>
          <a:noFill/>
          <a:ln/>
        </p:spPr>
        <p:txBody>
          <a:bodyPr wrap="square" lIns="0" tIns="0" rIns="0" bIns="0" rtlCol="0" anchor="t"/>
          <a:lstStyle/>
          <a:p>
            <a:pPr indent="0" marL="0">
              <a:spcAft>
                <a:spcPts val="1000"/>
              </a:spcAft>
              <a:buNone/>
            </a:pPr>
            <a:r>
              <a:rPr lang="en-US" sz="1500" b="1" dirty="0">
                <a:solidFill>
                  <a:schemeClr val="accent3"/>
                </a:solidFill>
              </a:rPr>
              <a:t>Priorité retenue</a:t>
            </a:r>
            <a:endParaRPr lang="en-US" sz="1500" dirty="0"/>
          </a:p>
          <a:p>
            <a:pPr indent="0" marL="0">
              <a:spcAft>
                <a:spcPts val="1000"/>
              </a:spcAft>
              <a:buNone/>
            </a:pPr>
            <a:r>
              <a:rPr lang="en-US" sz="2800" b="1" dirty="0">
                <a:solidFill>
                  <a:schemeClr val="bg1"/>
                </a:solidFill>
              </a:rPr>
              <a:t>Paiement Mobile Money</a:t>
            </a:r>
            <a:endParaRPr lang="en-US" sz="1500" dirty="0"/>
          </a:p>
          <a:p>
            <a:pPr indent="0" marL="0">
              <a:buNone/>
            </a:pPr>
            <a:r>
              <a:rPr lang="en-US" sz="1400" dirty="0">
                <a:solidFill>
                  <a:schemeClr val="bg1"/>
                </a:solidFill>
              </a:rPr>
              <a:t>Orange Money • MTN MoMo • Wave • Moov Money</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02 • BESOIN MÉTIER</a:t>
            </a:r>
            <a:endParaRPr lang="en-US" sz="1100" dirty="0"/>
          </a:p>
        </p:txBody>
      </p:sp>
      <p:sp>
        <p:nvSpPr>
          <p:cNvPr id="3" name="Text 1"/>
          <p:cNvSpPr/>
          <p:nvPr/>
        </p:nvSpPr>
        <p:spPr>
          <a:xfrm>
            <a:off x="0" y="0"/>
            <a:ext cx="6858000" cy="0"/>
          </a:xfrm>
          <a:prstGeom prst="rect">
            <a:avLst/>
          </a:prstGeom>
          <a:noFill/>
          <a:ln/>
        </p:spPr>
        <p:txBody>
          <a:bodyPr wrap="square" rtlCol="0"/>
          <a:lstStyle/>
          <a:p>
            <a:pPr indent="0" marL="0">
              <a:buNone/>
            </a:pPr>
            <a:r>
              <a:rPr lang="en-US" dirty="0"/>
              <a:t>Problématique et justification</a:t>
            </a:r>
            <a:endParaRPr lang="en-US" dirty="0"/>
          </a:p>
        </p:txBody>
      </p:sp>
      <p:sp>
        <p:nvSpPr>
          <p:cNvPr id="4" name="Shape 2"/>
          <p:cNvSpPr/>
          <p:nvPr/>
        </p:nvSpPr>
        <p:spPr>
          <a:xfrm>
            <a:off x="457200" y="1325880"/>
            <a:ext cx="8229600" cy="1417320"/>
          </a:xfrm>
          <a:prstGeom prst="roundRect">
            <a:avLst>
              <a:gd name="adj" fmla="val 5161"/>
            </a:avLst>
          </a:prstGeom>
          <a:solidFill>
            <a:schemeClr val="accent1"/>
          </a:solidFill>
          <a:ln/>
        </p:spPr>
      </p:sp>
      <p:sp>
        <p:nvSpPr>
          <p:cNvPr id="5" name="Text 3"/>
          <p:cNvSpPr txBox="1"/>
          <p:nvPr/>
        </p:nvSpPr>
        <p:spPr>
          <a:xfrm>
            <a:off x="640080" y="1463040"/>
            <a:ext cx="7863840" cy="1143000"/>
          </a:xfrm>
          <a:prstGeom prst="rect">
            <a:avLst/>
          </a:prstGeom>
          <a:noFill/>
          <a:ln/>
        </p:spPr>
        <p:txBody>
          <a:bodyPr wrap="square" lIns="0" tIns="0" rIns="0" bIns="0" rtlCol="0" anchor="t"/>
          <a:lstStyle/>
          <a:p>
            <a:pPr indent="0" marL="0">
              <a:spcAft>
                <a:spcPts val="500"/>
              </a:spcAft>
              <a:buNone/>
            </a:pPr>
            <a:r>
              <a:rPr lang="en-US" sz="1500" b="1" dirty="0">
                <a:solidFill>
                  <a:schemeClr val="bg1"/>
                </a:solidFill>
              </a:rPr>
              <a:t>Problématique</a:t>
            </a:r>
            <a:endParaRPr lang="en-US" sz="1500" dirty="0"/>
          </a:p>
          <a:p>
            <a:pPr indent="0" marL="0">
              <a:buNone/>
            </a:pPr>
            <a:r>
              <a:rPr lang="en-US" sz="1600" dirty="0">
                <a:solidFill>
                  <a:schemeClr val="bg1"/>
                </a:solidFill>
              </a:rPr>
              <a:t>Comment intégrer les paiements Mobile Money au système de gestion des ventes d’ORCA Déco CI afin de faciliter les transactions en ligne et en magasin, tout en assurant un suivi fiable et sécurisé des règlements ?</a:t>
            </a:r>
            <a:endParaRPr lang="en-US" sz="1500" dirty="0"/>
          </a:p>
        </p:txBody>
      </p:sp>
      <p:sp>
        <p:nvSpPr>
          <p:cNvPr id="6" name="Shape 4"/>
          <p:cNvSpPr/>
          <p:nvPr/>
        </p:nvSpPr>
        <p:spPr>
          <a:xfrm>
            <a:off x="457200" y="2926080"/>
            <a:ext cx="2651760" cy="1600200"/>
          </a:xfrm>
          <a:prstGeom prst="roundRect">
            <a:avLst>
              <a:gd name="adj" fmla="val 4571"/>
            </a:avLst>
          </a:prstGeom>
          <a:solidFill>
            <a:schemeClr val="bg2"/>
          </a:solidFill>
          <a:ln/>
        </p:spPr>
      </p:sp>
      <p:sp>
        <p:nvSpPr>
          <p:cNvPr id="7" name="Text 5"/>
          <p:cNvSpPr txBox="1"/>
          <p:nvPr/>
        </p:nvSpPr>
        <p:spPr>
          <a:xfrm>
            <a:off x="640080" y="3063240"/>
            <a:ext cx="2286000" cy="132588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Enjeu opérationnel</a:t>
            </a:r>
            <a:endParaRPr lang="en-US" sz="1500" dirty="0"/>
          </a:p>
          <a:p>
            <a:pPr indent="0" marL="0">
              <a:buNone/>
            </a:pPr>
            <a:r>
              <a:rPr lang="en-US" sz="1400" dirty="0">
                <a:solidFill>
                  <a:schemeClr val="tx1"/>
                </a:solidFill>
              </a:rPr>
              <a:t>Réduire les étapes manuelles et simplifier le parcours de paiement.</a:t>
            </a:r>
            <a:endParaRPr lang="en-US" sz="1500" dirty="0"/>
          </a:p>
        </p:txBody>
      </p:sp>
      <p:sp>
        <p:nvSpPr>
          <p:cNvPr id="8" name="Shape 6"/>
          <p:cNvSpPr/>
          <p:nvPr/>
        </p:nvSpPr>
        <p:spPr>
          <a:xfrm>
            <a:off x="3246120" y="2926080"/>
            <a:ext cx="2651760" cy="1600200"/>
          </a:xfrm>
          <a:prstGeom prst="roundRect">
            <a:avLst>
              <a:gd name="adj" fmla="val 4571"/>
            </a:avLst>
          </a:prstGeom>
          <a:solidFill>
            <a:schemeClr val="bg2"/>
          </a:solidFill>
          <a:ln/>
        </p:spPr>
      </p:sp>
      <p:sp>
        <p:nvSpPr>
          <p:cNvPr id="9" name="Text 7"/>
          <p:cNvSpPr txBox="1"/>
          <p:nvPr/>
        </p:nvSpPr>
        <p:spPr>
          <a:xfrm>
            <a:off x="3429000" y="3063240"/>
            <a:ext cx="2286000" cy="132588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Enjeu de suivi</a:t>
            </a:r>
            <a:endParaRPr lang="en-US" sz="1500" dirty="0"/>
          </a:p>
          <a:p>
            <a:pPr indent="0" marL="0">
              <a:buNone/>
            </a:pPr>
            <a:r>
              <a:rPr lang="en-US" sz="1400" dirty="0">
                <a:solidFill>
                  <a:schemeClr val="tx1"/>
                </a:solidFill>
              </a:rPr>
              <a:t>Associer chaque paiement à une vente et retrouver son statut.</a:t>
            </a:r>
            <a:endParaRPr lang="en-US" sz="1500" dirty="0"/>
          </a:p>
        </p:txBody>
      </p:sp>
      <p:sp>
        <p:nvSpPr>
          <p:cNvPr id="10" name="Shape 8"/>
          <p:cNvSpPr/>
          <p:nvPr/>
        </p:nvSpPr>
        <p:spPr>
          <a:xfrm>
            <a:off x="6035040" y="2926080"/>
            <a:ext cx="2651760" cy="1600200"/>
          </a:xfrm>
          <a:prstGeom prst="roundRect">
            <a:avLst>
              <a:gd name="adj" fmla="val 4571"/>
            </a:avLst>
          </a:prstGeom>
          <a:solidFill>
            <a:schemeClr val="bg2"/>
          </a:solidFill>
          <a:ln/>
        </p:spPr>
      </p:sp>
      <p:sp>
        <p:nvSpPr>
          <p:cNvPr id="11" name="Text 9"/>
          <p:cNvSpPr txBox="1"/>
          <p:nvPr/>
        </p:nvSpPr>
        <p:spPr>
          <a:xfrm>
            <a:off x="6217920" y="3063240"/>
            <a:ext cx="2286000" cy="132588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Enjeu de confiance</a:t>
            </a:r>
            <a:endParaRPr lang="en-US" sz="1500" dirty="0"/>
          </a:p>
          <a:p>
            <a:pPr indent="0" marL="0">
              <a:buNone/>
            </a:pPr>
            <a:r>
              <a:rPr lang="en-US" sz="1400" dirty="0">
                <a:solidFill>
                  <a:schemeClr val="tx1"/>
                </a:solidFill>
              </a:rPr>
              <a:t>Ne valider une vente qu’après confirmation fiable de la transaction.</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02 • BESOIN MÉTIER</a:t>
            </a:r>
            <a:endParaRPr lang="en-US" sz="1100" dirty="0"/>
          </a:p>
        </p:txBody>
      </p:sp>
      <p:sp>
        <p:nvSpPr>
          <p:cNvPr id="3" name="Text 1"/>
          <p:cNvSpPr/>
          <p:nvPr/>
        </p:nvSpPr>
        <p:spPr>
          <a:xfrm>
            <a:off x="0" y="0"/>
            <a:ext cx="6858000" cy="0"/>
          </a:xfrm>
          <a:prstGeom prst="rect">
            <a:avLst/>
          </a:prstGeom>
          <a:noFill/>
          <a:ln/>
        </p:spPr>
        <p:txBody>
          <a:bodyPr wrap="square" rtlCol="0"/>
          <a:lstStyle/>
          <a:p>
            <a:pPr indent="0" marL="0">
              <a:buNone/>
            </a:pPr>
            <a:r>
              <a:rPr lang="en-US" dirty="0"/>
              <a:t>Objectifs du projet</a:t>
            </a:r>
            <a:endParaRPr lang="en-US" dirty="0"/>
          </a:p>
        </p:txBody>
      </p:sp>
      <p:sp>
        <p:nvSpPr>
          <p:cNvPr id="4" name="Shape 2"/>
          <p:cNvSpPr/>
          <p:nvPr/>
        </p:nvSpPr>
        <p:spPr>
          <a:xfrm>
            <a:off x="457200" y="1325880"/>
            <a:ext cx="4023360" cy="1417320"/>
          </a:xfrm>
          <a:prstGeom prst="roundRect">
            <a:avLst>
              <a:gd name="adj" fmla="val 5161"/>
            </a:avLst>
          </a:prstGeom>
          <a:solidFill>
            <a:schemeClr val="bg2"/>
          </a:solidFill>
          <a:ln/>
        </p:spPr>
      </p:sp>
      <p:sp>
        <p:nvSpPr>
          <p:cNvPr id="5" name="Text 3"/>
          <p:cNvSpPr txBox="1"/>
          <p:nvPr/>
        </p:nvSpPr>
        <p:spPr>
          <a:xfrm>
            <a:off x="640080" y="1463040"/>
            <a:ext cx="3657600" cy="114300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Objectif général</a:t>
            </a:r>
            <a:endParaRPr lang="en-US" sz="1500" dirty="0"/>
          </a:p>
          <a:p>
            <a:pPr indent="0" marL="0">
              <a:buNone/>
            </a:pPr>
            <a:r>
              <a:rPr lang="en-US" sz="1400" dirty="0">
                <a:solidFill>
                  <a:schemeClr val="tx1"/>
                </a:solidFill>
              </a:rPr>
              <a:t>Étudier et concevoir une solution d’intégration Mobile Money adaptée au système existant d’ORCA Déco CI.</a:t>
            </a:r>
            <a:endParaRPr lang="en-US" sz="1500" dirty="0"/>
          </a:p>
        </p:txBody>
      </p:sp>
      <p:sp>
        <p:nvSpPr>
          <p:cNvPr id="6" name="Shape 4"/>
          <p:cNvSpPr/>
          <p:nvPr/>
        </p:nvSpPr>
        <p:spPr>
          <a:xfrm>
            <a:off x="457200" y="2880360"/>
            <a:ext cx="4023360" cy="1645920"/>
          </a:xfrm>
          <a:prstGeom prst="roundRect">
            <a:avLst>
              <a:gd name="adj" fmla="val 4444"/>
            </a:avLst>
          </a:prstGeom>
          <a:solidFill>
            <a:schemeClr val="bg2"/>
          </a:solidFill>
          <a:ln/>
        </p:spPr>
      </p:sp>
      <p:sp>
        <p:nvSpPr>
          <p:cNvPr id="7" name="Text 5"/>
          <p:cNvSpPr txBox="1"/>
          <p:nvPr/>
        </p:nvSpPr>
        <p:spPr>
          <a:xfrm>
            <a:off x="640080" y="3017520"/>
            <a:ext cx="3657600" cy="137160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Objectifs spécifiques</a:t>
            </a:r>
            <a:endParaRPr lang="en-US" sz="1500" dirty="0"/>
          </a:p>
          <a:p>
            <a:pPr indent="0" marL="0">
              <a:buNone/>
            </a:pPr>
            <a:r>
              <a:rPr lang="en-US" sz="1400" dirty="0">
                <a:solidFill>
                  <a:schemeClr val="tx1"/>
                </a:solidFill>
              </a:rPr>
              <a:t>Décrire les parcours de paiement, définir les règles de gestion, proposer une architecture et réaliser des tests.</a:t>
            </a:r>
            <a:endParaRPr lang="en-US" sz="1500" dirty="0"/>
          </a:p>
        </p:txBody>
      </p:sp>
      <p:sp>
        <p:nvSpPr>
          <p:cNvPr id="8" name="Shape 6"/>
          <p:cNvSpPr/>
          <p:nvPr/>
        </p:nvSpPr>
        <p:spPr>
          <a:xfrm>
            <a:off x="4663440" y="1325880"/>
            <a:ext cx="4023360" cy="3200400"/>
          </a:xfrm>
          <a:prstGeom prst="roundRect">
            <a:avLst>
              <a:gd name="adj" fmla="val 2286"/>
            </a:avLst>
          </a:prstGeom>
          <a:solidFill>
            <a:schemeClr val="tx1"/>
          </a:solidFill>
          <a:ln/>
        </p:spPr>
      </p:sp>
      <p:sp>
        <p:nvSpPr>
          <p:cNvPr id="9" name="Text 7"/>
          <p:cNvSpPr txBox="1"/>
          <p:nvPr/>
        </p:nvSpPr>
        <p:spPr>
          <a:xfrm>
            <a:off x="4846320" y="1463040"/>
            <a:ext cx="3657600" cy="2926080"/>
          </a:xfrm>
          <a:prstGeom prst="rect">
            <a:avLst/>
          </a:prstGeom>
          <a:noFill/>
          <a:ln/>
        </p:spPr>
        <p:txBody>
          <a:bodyPr wrap="square" lIns="0" tIns="0" rIns="0" bIns="0" rtlCol="0" anchor="t"/>
          <a:lstStyle/>
          <a:p>
            <a:pPr indent="0" marL="0">
              <a:spcAft>
                <a:spcPts val="500"/>
              </a:spcAft>
              <a:buNone/>
            </a:pPr>
            <a:r>
              <a:rPr lang="en-US" sz="1500" b="1" dirty="0">
                <a:solidFill>
                  <a:schemeClr val="accent3"/>
                </a:solidFill>
              </a:rPr>
              <a:t>Résultats attendus</a:t>
            </a:r>
            <a:endParaRPr lang="en-US" sz="1500" dirty="0"/>
          </a:p>
          <a:p>
            <a:pPr marL="342900" indent="-342900">
              <a:spcAft>
                <a:spcPts val="400"/>
              </a:spcAft>
              <a:buSzPct val="100000"/>
              <a:buChar char="•"/>
            </a:pPr>
            <a:r>
              <a:rPr lang="en-US" sz="1400" dirty="0">
                <a:solidFill>
                  <a:schemeClr val="bg1"/>
                </a:solidFill>
              </a:rPr>
              <a:t>État des lieux du processus de paiement actuel</a:t>
            </a:r>
            <a:endParaRPr lang="en-US" sz="1500" dirty="0"/>
          </a:p>
          <a:p>
            <a:pPr marL="342900" indent="-342900">
              <a:spcAft>
                <a:spcPts val="400"/>
              </a:spcAft>
              <a:buSzPct val="100000"/>
              <a:buChar char="•"/>
            </a:pPr>
            <a:r>
              <a:rPr lang="en-US" sz="1400" dirty="0">
                <a:solidFill>
                  <a:schemeClr val="bg1"/>
                </a:solidFill>
              </a:rPr>
              <a:t>Cahier des charges fonctionnel et technique validé</a:t>
            </a:r>
            <a:endParaRPr lang="en-US" sz="1500" dirty="0"/>
          </a:p>
          <a:p>
            <a:pPr marL="342900" indent="-342900">
              <a:spcAft>
                <a:spcPts val="400"/>
              </a:spcAft>
              <a:buSzPct val="100000"/>
              <a:buChar char="•"/>
            </a:pPr>
            <a:r>
              <a:rPr lang="en-US" sz="1400" dirty="0">
                <a:solidFill>
                  <a:schemeClr val="bg1"/>
                </a:solidFill>
              </a:rPr>
              <a:t>Diagrammes UML et modèle de données</a:t>
            </a:r>
            <a:endParaRPr lang="en-US" sz="1500" dirty="0"/>
          </a:p>
          <a:p>
            <a:pPr marL="342900" indent="-342900">
              <a:spcAft>
                <a:spcPts val="400"/>
              </a:spcAft>
              <a:buSzPct val="100000"/>
              <a:buChar char="•"/>
            </a:pPr>
            <a:r>
              <a:rPr lang="en-US" sz="1400" dirty="0">
                <a:solidFill>
                  <a:schemeClr val="bg1"/>
                </a:solidFill>
              </a:rPr>
              <a:t>Prototype de démonstration ou intégration pilote</a:t>
            </a:r>
            <a:endParaRPr lang="en-US" sz="1500" dirty="0"/>
          </a:p>
          <a:p>
            <a:pPr marL="342900" indent="-342900">
              <a:spcAft>
                <a:spcPts val="400"/>
              </a:spcAft>
              <a:buSzPct val="100000"/>
              <a:buChar char="•"/>
            </a:pPr>
            <a:r>
              <a:rPr lang="en-US" sz="1400" dirty="0">
                <a:solidFill>
                  <a:schemeClr val="bg1"/>
                </a:solidFill>
              </a:rPr>
              <a:t>Rapport de tests, limites connues et recommandations</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03 • PÉRIMÈTRE</a:t>
            </a:r>
            <a:endParaRPr lang="en-US" sz="1100" dirty="0"/>
          </a:p>
        </p:txBody>
      </p:sp>
      <p:sp>
        <p:nvSpPr>
          <p:cNvPr id="3" name="Text 1"/>
          <p:cNvSpPr/>
          <p:nvPr/>
        </p:nvSpPr>
        <p:spPr>
          <a:xfrm>
            <a:off x="0" y="0"/>
            <a:ext cx="6858000" cy="0"/>
          </a:xfrm>
          <a:prstGeom prst="rect">
            <a:avLst/>
          </a:prstGeom>
          <a:noFill/>
          <a:ln/>
        </p:spPr>
        <p:txBody>
          <a:bodyPr wrap="square" rtlCol="0"/>
          <a:lstStyle/>
          <a:p>
            <a:pPr indent="0" marL="0">
              <a:buNone/>
            </a:pPr>
            <a:r>
              <a:rPr lang="en-US" dirty="0"/>
              <a:t>Périmètre fonctionnel</a:t>
            </a:r>
            <a:endParaRPr lang="en-US" dirty="0"/>
          </a:p>
        </p:txBody>
      </p:sp>
      <p:sp>
        <p:nvSpPr>
          <p:cNvPr id="4" name="Shape 2"/>
          <p:cNvSpPr/>
          <p:nvPr/>
        </p:nvSpPr>
        <p:spPr>
          <a:xfrm>
            <a:off x="457200" y="1325880"/>
            <a:ext cx="4023360" cy="2743200"/>
          </a:xfrm>
          <a:prstGeom prst="roundRect">
            <a:avLst>
              <a:gd name="adj" fmla="val 2667"/>
            </a:avLst>
          </a:prstGeom>
          <a:solidFill>
            <a:schemeClr val="bg2"/>
          </a:solidFill>
          <a:ln/>
        </p:spPr>
      </p:sp>
      <p:sp>
        <p:nvSpPr>
          <p:cNvPr id="5" name="Text 3"/>
          <p:cNvSpPr txBox="1"/>
          <p:nvPr/>
        </p:nvSpPr>
        <p:spPr>
          <a:xfrm>
            <a:off x="640080" y="1463040"/>
            <a:ext cx="3657600" cy="246888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Inclus dans l’étude</a:t>
            </a:r>
            <a:endParaRPr lang="en-US" sz="1500" dirty="0"/>
          </a:p>
          <a:p>
            <a:pPr marL="342900" indent="-342900">
              <a:spcAft>
                <a:spcPts val="400"/>
              </a:spcAft>
              <a:buSzPct val="100000"/>
              <a:buChar char="•"/>
            </a:pPr>
            <a:r>
              <a:rPr lang="en-US" sz="1400" dirty="0">
                <a:solidFill>
                  <a:schemeClr val="tx1"/>
                </a:solidFill>
              </a:rPr>
              <a:t>Paiement pour une vente en ligne</a:t>
            </a:r>
            <a:endParaRPr lang="en-US" sz="1500" dirty="0"/>
          </a:p>
          <a:p>
            <a:pPr marL="342900" indent="-342900">
              <a:spcAft>
                <a:spcPts val="400"/>
              </a:spcAft>
              <a:buSzPct val="100000"/>
              <a:buChar char="•"/>
            </a:pPr>
            <a:r>
              <a:rPr lang="en-US" sz="1400" dirty="0">
                <a:solidFill>
                  <a:schemeClr val="tx1"/>
                </a:solidFill>
              </a:rPr>
              <a:t>Paiement en magasin</a:t>
            </a:r>
            <a:endParaRPr lang="en-US" sz="1500" dirty="0"/>
          </a:p>
          <a:p>
            <a:pPr marL="342900" indent="-342900">
              <a:spcAft>
                <a:spcPts val="400"/>
              </a:spcAft>
              <a:buSzPct val="100000"/>
              <a:buChar char="•"/>
            </a:pPr>
            <a:r>
              <a:rPr lang="en-US" sz="1400" dirty="0">
                <a:solidFill>
                  <a:schemeClr val="tx1"/>
                </a:solidFill>
              </a:rPr>
              <a:t>Choix d’un opérateur disponible</a:t>
            </a:r>
            <a:endParaRPr lang="en-US" sz="1500" dirty="0"/>
          </a:p>
          <a:p>
            <a:pPr marL="342900" indent="-342900">
              <a:spcAft>
                <a:spcPts val="400"/>
              </a:spcAft>
              <a:buSzPct val="100000"/>
              <a:buChar char="•"/>
            </a:pPr>
            <a:r>
              <a:rPr lang="en-US" sz="1400" dirty="0">
                <a:solidFill>
                  <a:schemeClr val="tx1"/>
                </a:solidFill>
              </a:rPr>
              <a:t>Suivi du statut et historique</a:t>
            </a:r>
            <a:endParaRPr lang="en-US" sz="1500" dirty="0"/>
          </a:p>
          <a:p>
            <a:pPr marL="342900" indent="-342900">
              <a:spcAft>
                <a:spcPts val="400"/>
              </a:spcAft>
              <a:buSzPct val="100000"/>
              <a:buChar char="•"/>
            </a:pPr>
            <a:r>
              <a:rPr lang="en-US" sz="1400" dirty="0">
                <a:solidFill>
                  <a:schemeClr val="tx1"/>
                </a:solidFill>
              </a:rPr>
              <a:t>Gestion des erreurs et rapprochement</a:t>
            </a:r>
            <a:endParaRPr lang="en-US" sz="1500" dirty="0"/>
          </a:p>
        </p:txBody>
      </p:sp>
      <p:sp>
        <p:nvSpPr>
          <p:cNvPr id="6" name="Shape 4"/>
          <p:cNvSpPr/>
          <p:nvPr/>
        </p:nvSpPr>
        <p:spPr>
          <a:xfrm>
            <a:off x="4663440" y="1325880"/>
            <a:ext cx="4023360" cy="2743200"/>
          </a:xfrm>
          <a:prstGeom prst="roundRect">
            <a:avLst>
              <a:gd name="adj" fmla="val 2667"/>
            </a:avLst>
          </a:prstGeom>
          <a:solidFill>
            <a:schemeClr val="tx1"/>
          </a:solidFill>
          <a:ln/>
        </p:spPr>
      </p:sp>
      <p:sp>
        <p:nvSpPr>
          <p:cNvPr id="7" name="Text 5"/>
          <p:cNvSpPr txBox="1"/>
          <p:nvPr/>
        </p:nvSpPr>
        <p:spPr>
          <a:xfrm>
            <a:off x="4846320" y="1463040"/>
            <a:ext cx="3657600" cy="2468880"/>
          </a:xfrm>
          <a:prstGeom prst="rect">
            <a:avLst/>
          </a:prstGeom>
          <a:noFill/>
          <a:ln/>
        </p:spPr>
        <p:txBody>
          <a:bodyPr wrap="square" lIns="0" tIns="0" rIns="0" bIns="0" rtlCol="0" anchor="t"/>
          <a:lstStyle/>
          <a:p>
            <a:pPr indent="0" marL="0">
              <a:spcAft>
                <a:spcPts val="500"/>
              </a:spcAft>
              <a:buNone/>
            </a:pPr>
            <a:r>
              <a:rPr lang="en-US" sz="1500" b="1" dirty="0">
                <a:solidFill>
                  <a:schemeClr val="accent3"/>
                </a:solidFill>
              </a:rPr>
              <a:t>Hors périmètre initial</a:t>
            </a:r>
            <a:endParaRPr lang="en-US" sz="1500" dirty="0"/>
          </a:p>
          <a:p>
            <a:pPr marL="342900" indent="-342900">
              <a:spcAft>
                <a:spcPts val="400"/>
              </a:spcAft>
              <a:buSzPct val="100000"/>
              <a:buChar char="•"/>
            </a:pPr>
            <a:r>
              <a:rPr lang="en-US" sz="1400" dirty="0">
                <a:solidFill>
                  <a:schemeClr val="bg1"/>
                </a:solidFill>
              </a:rPr>
              <a:t>Remplacement du logiciel existant</a:t>
            </a:r>
            <a:endParaRPr lang="en-US" sz="1500" dirty="0"/>
          </a:p>
          <a:p>
            <a:pPr marL="342900" indent="-342900">
              <a:spcAft>
                <a:spcPts val="400"/>
              </a:spcAft>
              <a:buSzPct val="100000"/>
              <a:buChar char="•"/>
            </a:pPr>
            <a:r>
              <a:rPr lang="en-US" sz="1400" dirty="0">
                <a:solidFill>
                  <a:schemeClr val="bg1"/>
                </a:solidFill>
              </a:rPr>
              <a:t>Refonte du site ou du stock</a:t>
            </a:r>
            <a:endParaRPr lang="en-US" sz="1500" dirty="0"/>
          </a:p>
          <a:p>
            <a:pPr marL="342900" indent="-342900">
              <a:spcAft>
                <a:spcPts val="400"/>
              </a:spcAft>
              <a:buSzPct val="100000"/>
              <a:buChar char="•"/>
            </a:pPr>
            <a:r>
              <a:rPr lang="en-US" sz="1400" dirty="0">
                <a:solidFill>
                  <a:schemeClr val="bg1"/>
                </a:solidFill>
              </a:rPr>
              <a:t>Conservation des codes secrets clients</a:t>
            </a:r>
            <a:endParaRPr lang="en-US" sz="1500" dirty="0"/>
          </a:p>
          <a:p>
            <a:pPr marL="342900" indent="-342900">
              <a:spcAft>
                <a:spcPts val="400"/>
              </a:spcAft>
              <a:buSzPct val="100000"/>
              <a:buChar char="•"/>
            </a:pPr>
            <a:r>
              <a:rPr lang="en-US" sz="1400" dirty="0">
                <a:solidFill>
                  <a:schemeClr val="bg1"/>
                </a:solidFill>
              </a:rPr>
              <a:t>Paiements réels sans accès marchand</a:t>
            </a:r>
            <a:endParaRPr lang="en-US" sz="1500" dirty="0"/>
          </a:p>
          <a:p>
            <a:pPr marL="342900" indent="-342900">
              <a:spcAft>
                <a:spcPts val="400"/>
              </a:spcAft>
              <a:buSzPct val="100000"/>
              <a:buChar char="•"/>
            </a:pPr>
            <a:r>
              <a:rPr lang="en-US" sz="1400" dirty="0">
                <a:solidFill>
                  <a:schemeClr val="bg1"/>
                </a:solidFill>
              </a:rPr>
              <a:t>4 opérateurs garantis dès la V1</a:t>
            </a:r>
            <a:endParaRPr lang="en-US" sz="1500" dirty="0"/>
          </a:p>
        </p:txBody>
      </p:sp>
      <p:sp>
        <p:nvSpPr>
          <p:cNvPr id="8" name="Text 6"/>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400" b="1" dirty="0">
                <a:solidFill>
                  <a:schemeClr val="accent1"/>
                </a:solidFill>
              </a:rPr>
              <a:t>Décision : démarrer par un seul opérateur accessible en environnement de test.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04 • SPÉCIFICATIONS</a:t>
            </a:r>
            <a:endParaRPr lang="en-US" sz="1100" dirty="0"/>
          </a:p>
        </p:txBody>
      </p:sp>
      <p:sp>
        <p:nvSpPr>
          <p:cNvPr id="3" name="Text 1"/>
          <p:cNvSpPr/>
          <p:nvPr/>
        </p:nvSpPr>
        <p:spPr>
          <a:xfrm>
            <a:off x="0" y="0"/>
            <a:ext cx="6858000" cy="0"/>
          </a:xfrm>
          <a:prstGeom prst="rect">
            <a:avLst/>
          </a:prstGeom>
          <a:noFill/>
          <a:ln/>
        </p:spPr>
        <p:txBody>
          <a:bodyPr wrap="square" rtlCol="0"/>
          <a:lstStyle/>
          <a:p>
            <a:pPr indent="0" marL="0">
              <a:buNone/>
            </a:pPr>
            <a:r>
              <a:rPr lang="en-US" dirty="0"/>
              <a:t>Acteurs et cas d’utilisation</a:t>
            </a:r>
            <a:endParaRPr lang="en-US" dirty="0"/>
          </a:p>
        </p:txBody>
      </p:sp>
      <p:sp>
        <p:nvSpPr>
          <p:cNvPr id="4" name="Shape 2"/>
          <p:cNvSpPr/>
          <p:nvPr/>
        </p:nvSpPr>
        <p:spPr>
          <a:xfrm>
            <a:off x="457200" y="1325880"/>
            <a:ext cx="2651760" cy="1920240"/>
          </a:xfrm>
          <a:prstGeom prst="roundRect">
            <a:avLst>
              <a:gd name="adj" fmla="val 3810"/>
            </a:avLst>
          </a:prstGeom>
          <a:solidFill>
            <a:schemeClr val="bg2"/>
          </a:solidFill>
          <a:ln/>
        </p:spPr>
      </p:sp>
      <p:sp>
        <p:nvSpPr>
          <p:cNvPr id="5" name="Text 3"/>
          <p:cNvSpPr txBox="1"/>
          <p:nvPr/>
        </p:nvSpPr>
        <p:spPr>
          <a:xfrm>
            <a:off x="640080" y="1463040"/>
            <a:ext cx="2286000" cy="164592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Client</a:t>
            </a:r>
            <a:endParaRPr lang="en-US" sz="1500" dirty="0"/>
          </a:p>
          <a:p>
            <a:pPr indent="0" marL="0">
              <a:buNone/>
            </a:pPr>
            <a:r>
              <a:rPr lang="en-US" sz="1400" dirty="0">
                <a:solidFill>
                  <a:schemeClr val="tx1"/>
                </a:solidFill>
              </a:rPr>
              <a:t>Choisit un moyen de paiement, confirme l’opération chez le prestataire, consulte le résultat.</a:t>
            </a:r>
            <a:endParaRPr lang="en-US" sz="1500" dirty="0"/>
          </a:p>
        </p:txBody>
      </p:sp>
      <p:sp>
        <p:nvSpPr>
          <p:cNvPr id="6" name="Shape 4"/>
          <p:cNvSpPr/>
          <p:nvPr/>
        </p:nvSpPr>
        <p:spPr>
          <a:xfrm>
            <a:off x="3246120" y="1325880"/>
            <a:ext cx="2651760" cy="1920240"/>
          </a:xfrm>
          <a:prstGeom prst="roundRect">
            <a:avLst>
              <a:gd name="adj" fmla="val 3810"/>
            </a:avLst>
          </a:prstGeom>
          <a:solidFill>
            <a:schemeClr val="bg2"/>
          </a:solidFill>
          <a:ln/>
        </p:spPr>
      </p:sp>
      <p:sp>
        <p:nvSpPr>
          <p:cNvPr id="7" name="Text 5"/>
          <p:cNvSpPr txBox="1"/>
          <p:nvPr/>
        </p:nvSpPr>
        <p:spPr>
          <a:xfrm>
            <a:off x="3429000" y="1463040"/>
            <a:ext cx="2286000" cy="164592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Vendeur / caissier</a:t>
            </a:r>
            <a:endParaRPr lang="en-US" sz="1500" dirty="0"/>
          </a:p>
          <a:p>
            <a:pPr indent="0" marL="0">
              <a:buNone/>
            </a:pPr>
            <a:r>
              <a:rPr lang="en-US" sz="1400" dirty="0">
                <a:solidFill>
                  <a:schemeClr val="tx1"/>
                </a:solidFill>
              </a:rPr>
              <a:t>Associe le paiement à une vente, consulte le statut, aide le client sans accéder à ses codes secrets.</a:t>
            </a:r>
            <a:endParaRPr lang="en-US" sz="1500" dirty="0"/>
          </a:p>
        </p:txBody>
      </p:sp>
      <p:sp>
        <p:nvSpPr>
          <p:cNvPr id="8" name="Shape 6"/>
          <p:cNvSpPr/>
          <p:nvPr/>
        </p:nvSpPr>
        <p:spPr>
          <a:xfrm>
            <a:off x="6035040" y="1325880"/>
            <a:ext cx="2651760" cy="1920240"/>
          </a:xfrm>
          <a:prstGeom prst="roundRect">
            <a:avLst>
              <a:gd name="adj" fmla="val 3810"/>
            </a:avLst>
          </a:prstGeom>
          <a:solidFill>
            <a:schemeClr val="bg2"/>
          </a:solidFill>
          <a:ln/>
        </p:spPr>
      </p:sp>
      <p:sp>
        <p:nvSpPr>
          <p:cNvPr id="9" name="Text 7"/>
          <p:cNvSpPr txBox="1"/>
          <p:nvPr/>
        </p:nvSpPr>
        <p:spPr>
          <a:xfrm>
            <a:off x="6217920" y="1463040"/>
            <a:ext cx="2286000" cy="164592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Administrateur</a:t>
            </a:r>
            <a:endParaRPr lang="en-US" sz="1500" dirty="0"/>
          </a:p>
          <a:p>
            <a:pPr indent="0" marL="0">
              <a:buNone/>
            </a:pPr>
            <a:r>
              <a:rPr lang="en-US" sz="1400" dirty="0">
                <a:solidFill>
                  <a:schemeClr val="tx1"/>
                </a:solidFill>
              </a:rPr>
              <a:t>Consulte l’historique, recherche une transaction et effectue le rapprochement autorisé.</a:t>
            </a:r>
            <a:endParaRPr lang="en-US" sz="1500" dirty="0"/>
          </a:p>
        </p:txBody>
      </p:sp>
      <p:sp>
        <p:nvSpPr>
          <p:cNvPr id="10" name="Shape 8"/>
          <p:cNvSpPr/>
          <p:nvPr/>
        </p:nvSpPr>
        <p:spPr>
          <a:xfrm>
            <a:off x="457200" y="3383280"/>
            <a:ext cx="8229600" cy="1143000"/>
          </a:xfrm>
          <a:prstGeom prst="roundRect">
            <a:avLst>
              <a:gd name="adj" fmla="val 6400"/>
            </a:avLst>
          </a:prstGeom>
          <a:solidFill>
            <a:schemeClr val="tx1"/>
          </a:solidFill>
          <a:ln/>
        </p:spPr>
      </p:sp>
      <p:sp>
        <p:nvSpPr>
          <p:cNvPr id="11" name="Text 9"/>
          <p:cNvSpPr txBox="1"/>
          <p:nvPr/>
        </p:nvSpPr>
        <p:spPr>
          <a:xfrm>
            <a:off x="640080" y="3520440"/>
            <a:ext cx="7863840" cy="868680"/>
          </a:xfrm>
          <a:prstGeom prst="rect">
            <a:avLst/>
          </a:prstGeom>
          <a:noFill/>
          <a:ln/>
        </p:spPr>
        <p:txBody>
          <a:bodyPr wrap="square" lIns="0" tIns="0" rIns="0" bIns="0" rtlCol="0" anchor="t"/>
          <a:lstStyle/>
          <a:p>
            <a:pPr indent="0" marL="0">
              <a:spcAft>
                <a:spcPts val="500"/>
              </a:spcAft>
              <a:buNone/>
            </a:pPr>
            <a:r>
              <a:rPr lang="en-US" sz="1500" b="1" dirty="0">
                <a:solidFill>
                  <a:schemeClr val="accent3"/>
                </a:solidFill>
              </a:rPr>
              <a:t>Systèmes externes</a:t>
            </a:r>
            <a:endParaRPr lang="en-US" sz="1500" dirty="0"/>
          </a:p>
          <a:p>
            <a:pPr marL="342900" indent="-342900">
              <a:spcAft>
                <a:spcPts val="400"/>
              </a:spcAft>
              <a:buSzPct val="100000"/>
              <a:buChar char="•"/>
            </a:pPr>
            <a:r>
              <a:rPr lang="en-US" sz="1400" dirty="0">
                <a:solidFill>
                  <a:schemeClr val="bg1"/>
                </a:solidFill>
              </a:rPr>
              <a:t>Prestataire Mobile Money : traite le paiement et fournit la confirmation</a:t>
            </a:r>
            <a:endParaRPr lang="en-US" sz="1500" dirty="0"/>
          </a:p>
          <a:p>
            <a:pPr marL="342900" indent="-342900">
              <a:spcAft>
                <a:spcPts val="400"/>
              </a:spcAft>
              <a:buSzPct val="100000"/>
              <a:buChar char="•"/>
            </a:pPr>
            <a:r>
              <a:rPr lang="en-US" sz="1400" dirty="0">
                <a:solidFill>
                  <a:schemeClr val="bg1"/>
                </a:solidFill>
              </a:rPr>
              <a:t>Système ORCA existant : conserve la vente et reçoit le statut de paiement</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04 • SPÉCIFICATIONS</a:t>
            </a:r>
            <a:endParaRPr lang="en-US" sz="1100" dirty="0"/>
          </a:p>
        </p:txBody>
      </p:sp>
      <p:sp>
        <p:nvSpPr>
          <p:cNvPr id="3" name="Text 1"/>
          <p:cNvSpPr/>
          <p:nvPr/>
        </p:nvSpPr>
        <p:spPr>
          <a:xfrm>
            <a:off x="0" y="0"/>
            <a:ext cx="6858000" cy="0"/>
          </a:xfrm>
          <a:prstGeom prst="rect">
            <a:avLst/>
          </a:prstGeom>
          <a:noFill/>
          <a:ln/>
        </p:spPr>
        <p:txBody>
          <a:bodyPr wrap="square" rtlCol="0"/>
          <a:lstStyle/>
          <a:p>
            <a:pPr indent="0" marL="0">
              <a:buNone/>
            </a:pPr>
            <a:r>
              <a:rPr lang="en-US" dirty="0"/>
              <a:t>Exigences fonctionnelles</a:t>
            </a:r>
            <a:endParaRPr lang="en-US"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822960"/>
                <a:gridCol w="1645920"/>
                <a:gridCol w="5760720"/>
              </a:tblGrid>
              <a:tr h="384048">
                <a:tc>
                  <a:txBody>
                    <a:bodyPr/>
                    <a:lstStyle/>
                    <a:p>
                      <a:pPr indent="0" marL="0">
                        <a:buNone/>
                      </a:pPr>
                      <a:r>
                        <a:rPr lang="en-US" sz="1200" b="1" dirty="0">
                          <a:solidFill>
                            <a:srgbClr val="FFFFFF"/>
                          </a:solidFill>
                        </a:rPr>
                        <a:t>ID</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0B0B0F"/>
                    </a:solidFill>
                  </a:tcPr>
                </a:tc>
                <a:tc>
                  <a:txBody>
                    <a:bodyPr/>
                    <a:lstStyle/>
                    <a:p>
                      <a:pPr indent="0" marL="0">
                        <a:buNone/>
                      </a:pPr>
                      <a:r>
                        <a:rPr lang="en-US" sz="1200" b="1" dirty="0">
                          <a:solidFill>
                            <a:srgbClr val="FFFFFF"/>
                          </a:solidFill>
                        </a:rPr>
                        <a:t>Fonction</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0B0B0F"/>
                    </a:solidFill>
                  </a:tcPr>
                </a:tc>
                <a:tc>
                  <a:txBody>
                    <a:bodyPr/>
                    <a:lstStyle/>
                    <a:p>
                      <a:pPr indent="0" marL="0">
                        <a:buNone/>
                      </a:pPr>
                      <a:r>
                        <a:rPr lang="en-US" sz="1200" b="1" dirty="0">
                          <a:solidFill>
                            <a:srgbClr val="FFFFFF"/>
                          </a:solidFill>
                        </a:rPr>
                        <a:t>Description</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0B0B0F"/>
                    </a:solidFill>
                  </a:tcPr>
                </a:tc>
              </a:tr>
              <a:tr h="384048">
                <a:tc>
                  <a:txBody>
                    <a:bodyPr/>
                    <a:lstStyle/>
                    <a:p>
                      <a:pPr indent="0" marL="0">
                        <a:buNone/>
                      </a:pPr>
                      <a:r>
                        <a:rPr lang="en-US" sz="1200" b="1" dirty="0">
                          <a:solidFill>
                            <a:srgbClr val="1558F0"/>
                          </a:solidFill>
                        </a:rPr>
                        <a:t>RF01</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Sélection</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Le client ou le vendeur choisit un moyen de paiement disponible.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558F0"/>
                          </a:solidFill>
                        </a:rPr>
                        <a:t>RF02</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c>
                  <a:txBody>
                    <a:bodyPr/>
                    <a:lstStyle/>
                    <a:p>
                      <a:pPr indent="0" marL="0">
                        <a:buNone/>
                      </a:pPr>
                      <a:r>
                        <a:rPr lang="en-US" sz="1200" dirty="0">
                          <a:solidFill>
                            <a:srgbClr val="0B0B0F"/>
                          </a:solidFill>
                        </a:rPr>
                        <a:t>Initialisation</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c>
                  <a:txBody>
                    <a:bodyPr/>
                    <a:lstStyle/>
                    <a:p>
                      <a:pPr indent="0" marL="0">
                        <a:buNone/>
                      </a:pPr>
                      <a:r>
                        <a:rPr lang="en-US" sz="1200" dirty="0">
                          <a:solidFill>
                            <a:srgbClr val="0B0B0F"/>
                          </a:solidFill>
                        </a:rPr>
                        <a:t>Le système crée une demande liée à une vente et à un montant précis.</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r>
              <a:tr h="384048">
                <a:tc>
                  <a:txBody>
                    <a:bodyPr/>
                    <a:lstStyle/>
                    <a:p>
                      <a:pPr indent="0" marL="0">
                        <a:buNone/>
                      </a:pPr>
                      <a:r>
                        <a:rPr lang="en-US" sz="1200" b="1" dirty="0">
                          <a:solidFill>
                            <a:srgbClr val="1558F0"/>
                          </a:solidFill>
                        </a:rPr>
                        <a:t>RF03</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Statut</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Le paiement peut être en attente, réussi, échoué ou annulé.</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558F0"/>
                          </a:solidFill>
                        </a:rPr>
                        <a:t>RF04</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c>
                  <a:txBody>
                    <a:bodyPr/>
                    <a:lstStyle/>
                    <a:p>
                      <a:pPr indent="0" marL="0">
                        <a:buNone/>
                      </a:pPr>
                      <a:r>
                        <a:rPr lang="en-US" sz="1200" dirty="0">
                          <a:solidFill>
                            <a:srgbClr val="0B0B0F"/>
                          </a:solidFill>
                        </a:rPr>
                        <a:t>Confirmation</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c>
                  <a:txBody>
                    <a:bodyPr/>
                    <a:lstStyle/>
                    <a:p>
                      <a:pPr indent="0" marL="0">
                        <a:buNone/>
                      </a:pPr>
                      <a:r>
                        <a:rPr lang="en-US" sz="1200" dirty="0">
                          <a:solidFill>
                            <a:srgbClr val="0B0B0F"/>
                          </a:solidFill>
                        </a:rPr>
                        <a:t>La vente est marquée payée uniquement après vérification fiable.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r>
              <a:tr h="384048">
                <a:tc>
                  <a:txBody>
                    <a:bodyPr/>
                    <a:lstStyle/>
                    <a:p>
                      <a:pPr indent="0" marL="0">
                        <a:buNone/>
                      </a:pPr>
                      <a:r>
                        <a:rPr lang="en-US" sz="1200" b="1" dirty="0">
                          <a:solidFill>
                            <a:srgbClr val="1558F0"/>
                          </a:solidFill>
                        </a:rPr>
                        <a:t>RF05</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Historique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Les utilisateurs autorisés consultent les références et statuts.</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558F0"/>
                          </a:solidFill>
                        </a:rPr>
                        <a:t>RF06</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c>
                  <a:txBody>
                    <a:bodyPr/>
                    <a:lstStyle/>
                    <a:p>
                      <a:pPr indent="0" marL="0">
                        <a:buNone/>
                      </a:pPr>
                      <a:r>
                        <a:rPr lang="en-US" sz="1200" dirty="0">
                          <a:solidFill>
                            <a:srgbClr val="0B0B0F"/>
                          </a:solidFill>
                        </a:rPr>
                        <a:t>Gestion d’erreur</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c>
                  <a:txBody>
                    <a:bodyPr/>
                    <a:lstStyle/>
                    <a:p>
                      <a:pPr indent="0" marL="0">
                        <a:buNone/>
                      </a:pPr>
                      <a:r>
                        <a:rPr lang="en-US" sz="1200" dirty="0">
                          <a:solidFill>
                            <a:srgbClr val="0B0B0F"/>
                          </a:solidFill>
                        </a:rPr>
                        <a:t>Traitement des délais, interruptions, refus et tentatives répétées.</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r>
              <a:tr h="384048">
                <a:tc>
                  <a:txBody>
                    <a:bodyPr/>
                    <a:lstStyle/>
                    <a:p>
                      <a:pPr indent="0" marL="0">
                        <a:buNone/>
                      </a:pPr>
                      <a:r>
                        <a:rPr lang="en-US" sz="1200" b="1" dirty="0">
                          <a:solidFill>
                            <a:srgbClr val="1558F0"/>
                          </a:solidFill>
                        </a:rPr>
                        <a:t>RF07</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Rapprochement</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Les transactions internes sont comparées aux données du prestataire.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04 • SPÉCIFICATIONS</a:t>
            </a:r>
            <a:endParaRPr lang="en-US" sz="1100" dirty="0"/>
          </a:p>
        </p:txBody>
      </p:sp>
      <p:sp>
        <p:nvSpPr>
          <p:cNvPr id="3" name="Text 1"/>
          <p:cNvSpPr/>
          <p:nvPr/>
        </p:nvSpPr>
        <p:spPr>
          <a:xfrm>
            <a:off x="0" y="0"/>
            <a:ext cx="6858000" cy="0"/>
          </a:xfrm>
          <a:prstGeom prst="rect">
            <a:avLst/>
          </a:prstGeom>
          <a:noFill/>
          <a:ln/>
        </p:spPr>
        <p:txBody>
          <a:bodyPr wrap="square" rtlCol="0"/>
          <a:lstStyle/>
          <a:p>
            <a:pPr indent="0" marL="0">
              <a:buNone/>
            </a:pPr>
            <a:r>
              <a:rPr lang="en-US" dirty="0"/>
              <a:t>Parcours de paiement</a:t>
            </a:r>
            <a:endParaRPr lang="en-US" dirty="0"/>
          </a:p>
        </p:txBody>
      </p:sp>
      <p:sp>
        <p:nvSpPr>
          <p:cNvPr id="4" name="Text 2"/>
          <p:cNvSpPr txBox="1"/>
          <p:nvPr/>
        </p:nvSpPr>
        <p:spPr>
          <a:xfrm>
            <a:off x="457200" y="1280160"/>
            <a:ext cx="4572000" cy="274320"/>
          </a:xfrm>
          <a:prstGeom prst="rect">
            <a:avLst/>
          </a:prstGeom>
          <a:noFill/>
          <a:ln/>
        </p:spPr>
        <p:txBody>
          <a:bodyPr wrap="square" lIns="0" tIns="0" rIns="0" bIns="0" rtlCol="0" anchor="ctr"/>
          <a:lstStyle/>
          <a:p>
            <a:pPr indent="0" marL="0">
              <a:buNone/>
            </a:pPr>
            <a:r>
              <a:rPr lang="en-US" sz="1500" b="1" dirty="0">
                <a:solidFill>
                  <a:schemeClr val="accent1"/>
                </a:solidFill>
              </a:rPr>
              <a:t>A. Achat en ligne</a:t>
            </a:r>
            <a:endParaRPr lang="en-US" sz="1500" dirty="0"/>
          </a:p>
        </p:txBody>
      </p:sp>
      <p:sp>
        <p:nvSpPr>
          <p:cNvPr id="5" name="Shape 3"/>
          <p:cNvSpPr/>
          <p:nvPr/>
        </p:nvSpPr>
        <p:spPr>
          <a:xfrm>
            <a:off x="960120" y="1691640"/>
            <a:ext cx="457200" cy="457200"/>
          </a:xfrm>
          <a:prstGeom prst="ellipse">
            <a:avLst/>
          </a:prstGeom>
          <a:solidFill>
            <a:schemeClr val="accent1"/>
          </a:solidFill>
          <a:ln/>
        </p:spPr>
      </p:sp>
      <p:sp>
        <p:nvSpPr>
          <p:cNvPr id="6" name="Text 4"/>
          <p:cNvSpPr txBox="1"/>
          <p:nvPr/>
        </p:nvSpPr>
        <p:spPr>
          <a:xfrm>
            <a:off x="96012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457200" y="2240280"/>
            <a:ext cx="1463040" cy="548640"/>
          </a:xfrm>
          <a:prstGeom prst="rect">
            <a:avLst/>
          </a:prstGeom>
          <a:noFill/>
          <a:ln/>
        </p:spPr>
        <p:txBody>
          <a:bodyPr wrap="square" lIns="0" tIns="0" rIns="0" bIns="0" rtlCol="0" anchor="t"/>
          <a:lstStyle/>
          <a:p>
            <a:pPr algn="ctr" indent="0" marL="0">
              <a:buNone/>
            </a:pPr>
            <a:r>
              <a:rPr lang="en-US" sz="1400" b="1" dirty="0">
                <a:solidFill>
                  <a:schemeClr val="tx1"/>
                </a:solidFill>
              </a:rPr>
              <a:t>Panier / commande</a:t>
            </a:r>
            <a:endParaRPr lang="en-US" sz="1400" dirty="0"/>
          </a:p>
        </p:txBody>
      </p:sp>
      <p:sp>
        <p:nvSpPr>
          <p:cNvPr id="8" name="Text 6"/>
          <p:cNvSpPr txBox="1"/>
          <p:nvPr/>
        </p:nvSpPr>
        <p:spPr>
          <a:xfrm>
            <a:off x="1783080" y="1691640"/>
            <a:ext cx="365760" cy="457200"/>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9" name="Shape 7"/>
          <p:cNvSpPr/>
          <p:nvPr/>
        </p:nvSpPr>
        <p:spPr>
          <a:xfrm>
            <a:off x="2651760" y="1691640"/>
            <a:ext cx="457200" cy="457200"/>
          </a:xfrm>
          <a:prstGeom prst="ellipse">
            <a:avLst/>
          </a:prstGeom>
          <a:solidFill>
            <a:schemeClr val="accent1"/>
          </a:solidFill>
          <a:ln/>
        </p:spPr>
      </p:sp>
      <p:sp>
        <p:nvSpPr>
          <p:cNvPr id="10" name="Text 8"/>
          <p:cNvSpPr txBox="1"/>
          <p:nvPr/>
        </p:nvSpPr>
        <p:spPr>
          <a:xfrm>
            <a:off x="265176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2148840" y="2240280"/>
            <a:ext cx="1463040" cy="548640"/>
          </a:xfrm>
          <a:prstGeom prst="rect">
            <a:avLst/>
          </a:prstGeom>
          <a:noFill/>
          <a:ln/>
        </p:spPr>
        <p:txBody>
          <a:bodyPr wrap="square" lIns="0" tIns="0" rIns="0" bIns="0" rtlCol="0" anchor="t"/>
          <a:lstStyle/>
          <a:p>
            <a:pPr algn="ctr" indent="0" marL="0">
              <a:buNone/>
            </a:pPr>
            <a:r>
              <a:rPr lang="en-US" sz="1400" b="1" dirty="0">
                <a:solidFill>
                  <a:schemeClr val="tx1"/>
                </a:solidFill>
              </a:rPr>
              <a:t>Choix Mobile Money</a:t>
            </a:r>
            <a:endParaRPr lang="en-US" sz="1400" dirty="0"/>
          </a:p>
        </p:txBody>
      </p:sp>
      <p:sp>
        <p:nvSpPr>
          <p:cNvPr id="12" name="Text 10"/>
          <p:cNvSpPr txBox="1"/>
          <p:nvPr/>
        </p:nvSpPr>
        <p:spPr>
          <a:xfrm>
            <a:off x="3474720" y="1691640"/>
            <a:ext cx="365760" cy="457200"/>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13" name="Shape 11"/>
          <p:cNvSpPr/>
          <p:nvPr/>
        </p:nvSpPr>
        <p:spPr>
          <a:xfrm>
            <a:off x="4343400" y="1691640"/>
            <a:ext cx="457200" cy="457200"/>
          </a:xfrm>
          <a:prstGeom prst="ellipse">
            <a:avLst/>
          </a:prstGeom>
          <a:solidFill>
            <a:schemeClr val="accent1"/>
          </a:solidFill>
          <a:ln/>
        </p:spPr>
      </p:sp>
      <p:sp>
        <p:nvSpPr>
          <p:cNvPr id="14" name="Text 12"/>
          <p:cNvSpPr txBox="1"/>
          <p:nvPr/>
        </p:nvSpPr>
        <p:spPr>
          <a:xfrm>
            <a:off x="434340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3840480" y="2240280"/>
            <a:ext cx="1463040" cy="548640"/>
          </a:xfrm>
          <a:prstGeom prst="rect">
            <a:avLst/>
          </a:prstGeom>
          <a:noFill/>
          <a:ln/>
        </p:spPr>
        <p:txBody>
          <a:bodyPr wrap="square" lIns="0" tIns="0" rIns="0" bIns="0" rtlCol="0" anchor="t"/>
          <a:lstStyle/>
          <a:p>
            <a:pPr algn="ctr" indent="0" marL="0">
              <a:buNone/>
            </a:pPr>
            <a:r>
              <a:rPr lang="en-US" sz="1400" b="1" dirty="0">
                <a:solidFill>
                  <a:schemeClr val="tx1"/>
                </a:solidFill>
              </a:rPr>
              <a:t>Confirmation prestataire</a:t>
            </a:r>
            <a:endParaRPr lang="en-US" sz="1400" dirty="0"/>
          </a:p>
        </p:txBody>
      </p:sp>
      <p:sp>
        <p:nvSpPr>
          <p:cNvPr id="16" name="Text 14"/>
          <p:cNvSpPr txBox="1"/>
          <p:nvPr/>
        </p:nvSpPr>
        <p:spPr>
          <a:xfrm>
            <a:off x="5166360" y="1691640"/>
            <a:ext cx="365760" cy="457200"/>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17" name="Shape 15"/>
          <p:cNvSpPr/>
          <p:nvPr/>
        </p:nvSpPr>
        <p:spPr>
          <a:xfrm>
            <a:off x="6035040" y="1691640"/>
            <a:ext cx="457200" cy="457200"/>
          </a:xfrm>
          <a:prstGeom prst="ellipse">
            <a:avLst/>
          </a:prstGeom>
          <a:solidFill>
            <a:schemeClr val="accent1"/>
          </a:solidFill>
          <a:ln/>
        </p:spPr>
      </p:sp>
      <p:sp>
        <p:nvSpPr>
          <p:cNvPr id="18" name="Text 16"/>
          <p:cNvSpPr txBox="1"/>
          <p:nvPr/>
        </p:nvSpPr>
        <p:spPr>
          <a:xfrm>
            <a:off x="603504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7"/>
          <p:cNvSpPr txBox="1"/>
          <p:nvPr/>
        </p:nvSpPr>
        <p:spPr>
          <a:xfrm>
            <a:off x="5532120" y="2240280"/>
            <a:ext cx="1463040" cy="548640"/>
          </a:xfrm>
          <a:prstGeom prst="rect">
            <a:avLst/>
          </a:prstGeom>
          <a:noFill/>
          <a:ln/>
        </p:spPr>
        <p:txBody>
          <a:bodyPr wrap="square" lIns="0" tIns="0" rIns="0" bIns="0" rtlCol="0" anchor="t"/>
          <a:lstStyle/>
          <a:p>
            <a:pPr algn="ctr" indent="0" marL="0">
              <a:buNone/>
            </a:pPr>
            <a:r>
              <a:rPr lang="en-US" sz="1400" b="1" dirty="0">
                <a:solidFill>
                  <a:schemeClr val="tx1"/>
                </a:solidFill>
              </a:rPr>
              <a:t>Vérification du statut</a:t>
            </a:r>
            <a:endParaRPr lang="en-US" sz="1400" dirty="0"/>
          </a:p>
        </p:txBody>
      </p:sp>
      <p:sp>
        <p:nvSpPr>
          <p:cNvPr id="20" name="Text 18"/>
          <p:cNvSpPr txBox="1"/>
          <p:nvPr/>
        </p:nvSpPr>
        <p:spPr>
          <a:xfrm>
            <a:off x="6858000" y="1691640"/>
            <a:ext cx="365760" cy="457200"/>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21" name="Shape 19"/>
          <p:cNvSpPr/>
          <p:nvPr/>
        </p:nvSpPr>
        <p:spPr>
          <a:xfrm>
            <a:off x="7726680" y="1691640"/>
            <a:ext cx="457200" cy="457200"/>
          </a:xfrm>
          <a:prstGeom prst="ellipse">
            <a:avLst/>
          </a:prstGeom>
          <a:solidFill>
            <a:schemeClr val="accent1"/>
          </a:solidFill>
          <a:ln/>
        </p:spPr>
      </p:sp>
      <p:sp>
        <p:nvSpPr>
          <p:cNvPr id="22" name="Text 20"/>
          <p:cNvSpPr txBox="1"/>
          <p:nvPr/>
        </p:nvSpPr>
        <p:spPr>
          <a:xfrm>
            <a:off x="772668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Text 21"/>
          <p:cNvSpPr txBox="1"/>
          <p:nvPr/>
        </p:nvSpPr>
        <p:spPr>
          <a:xfrm>
            <a:off x="7223760" y="2240280"/>
            <a:ext cx="1463040" cy="548640"/>
          </a:xfrm>
          <a:prstGeom prst="rect">
            <a:avLst/>
          </a:prstGeom>
          <a:noFill/>
          <a:ln/>
        </p:spPr>
        <p:txBody>
          <a:bodyPr wrap="square" lIns="0" tIns="0" rIns="0" bIns="0" rtlCol="0" anchor="t"/>
          <a:lstStyle/>
          <a:p>
            <a:pPr algn="ctr" indent="0" marL="0">
              <a:buNone/>
            </a:pPr>
            <a:r>
              <a:rPr lang="en-US" sz="1400" b="1" dirty="0">
                <a:solidFill>
                  <a:schemeClr val="tx1"/>
                </a:solidFill>
              </a:rPr>
              <a:t>Mise à jour de la vente</a:t>
            </a:r>
            <a:endParaRPr lang="en-US" sz="1400" dirty="0"/>
          </a:p>
        </p:txBody>
      </p:sp>
      <p:sp>
        <p:nvSpPr>
          <p:cNvPr id="24" name="Shape 22"/>
          <p:cNvSpPr/>
          <p:nvPr/>
        </p:nvSpPr>
        <p:spPr>
          <a:xfrm>
            <a:off x="457200" y="2971800"/>
            <a:ext cx="8229600" cy="1600200"/>
          </a:xfrm>
          <a:prstGeom prst="roundRect">
            <a:avLst>
              <a:gd name="adj" fmla="val 4571"/>
            </a:avLst>
          </a:prstGeom>
          <a:solidFill>
            <a:schemeClr val="tx1"/>
          </a:solidFill>
          <a:ln/>
        </p:spPr>
      </p:sp>
      <p:sp>
        <p:nvSpPr>
          <p:cNvPr id="25" name="Text 23"/>
          <p:cNvSpPr txBox="1"/>
          <p:nvPr/>
        </p:nvSpPr>
        <p:spPr>
          <a:xfrm>
            <a:off x="640080" y="3108960"/>
            <a:ext cx="7863840" cy="1325880"/>
          </a:xfrm>
          <a:prstGeom prst="rect">
            <a:avLst/>
          </a:prstGeom>
          <a:noFill/>
          <a:ln/>
        </p:spPr>
        <p:txBody>
          <a:bodyPr wrap="square" lIns="0" tIns="0" rIns="0" bIns="0" rtlCol="0" anchor="t"/>
          <a:lstStyle/>
          <a:p>
            <a:pPr indent="0" marL="0">
              <a:spcAft>
                <a:spcPts val="500"/>
              </a:spcAft>
              <a:buNone/>
            </a:pPr>
            <a:r>
              <a:rPr lang="en-US" sz="1500" b="1" dirty="0">
                <a:solidFill>
                  <a:schemeClr val="accent3"/>
                </a:solidFill>
              </a:rPr>
              <a:t>B. Achat en magasin</a:t>
            </a:r>
            <a:endParaRPr lang="en-US" sz="1500" dirty="0"/>
          </a:p>
          <a:p>
            <a:pPr marL="342900" indent="-342900">
              <a:spcAft>
                <a:spcPts val="400"/>
              </a:spcAft>
              <a:buSzPct val="100000"/>
              <a:buChar char="•"/>
            </a:pPr>
            <a:r>
              <a:rPr lang="en-US" sz="1400" dirty="0">
                <a:solidFill>
                  <a:schemeClr val="bg1"/>
                </a:solidFill>
              </a:rPr>
              <a:t>Le vendeur crée ou sélectionne la vente dans le système.</a:t>
            </a:r>
            <a:endParaRPr lang="en-US" sz="1500" dirty="0"/>
          </a:p>
          <a:p>
            <a:pPr marL="342900" indent="-342900">
              <a:spcAft>
                <a:spcPts val="400"/>
              </a:spcAft>
              <a:buSzPct val="100000"/>
              <a:buChar char="•"/>
            </a:pPr>
            <a:r>
              <a:rPr lang="en-US" sz="1400" dirty="0">
                <a:solidFill>
                  <a:schemeClr val="bg1"/>
                </a:solidFill>
              </a:rPr>
              <a:t>Le client paie via le parcours du prestataire : application, demande de paiement ou QR code si disponible.</a:t>
            </a:r>
            <a:endParaRPr lang="en-US" sz="1500" dirty="0"/>
          </a:p>
          <a:p>
            <a:pPr marL="342900" indent="-342900">
              <a:spcAft>
                <a:spcPts val="400"/>
              </a:spcAft>
              <a:buSzPct val="100000"/>
              <a:buChar char="•"/>
            </a:pPr>
            <a:r>
              <a:rPr lang="en-US" sz="1400" dirty="0">
                <a:solidFill>
                  <a:schemeClr val="bg1"/>
                </a:solidFill>
              </a:rPr>
              <a:t>Le vendeur vérifie le statut dans le système ORCA, pas seulement sur une capture d’écran.</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04 • SPÉCIFICATIONS</a:t>
            </a:r>
            <a:endParaRPr lang="en-US" sz="1100" dirty="0"/>
          </a:p>
        </p:txBody>
      </p:sp>
      <p:sp>
        <p:nvSpPr>
          <p:cNvPr id="3" name="Text 1"/>
          <p:cNvSpPr/>
          <p:nvPr/>
        </p:nvSpPr>
        <p:spPr>
          <a:xfrm>
            <a:off x="0" y="0"/>
            <a:ext cx="6858000" cy="0"/>
          </a:xfrm>
          <a:prstGeom prst="rect">
            <a:avLst/>
          </a:prstGeom>
          <a:noFill/>
          <a:ln/>
        </p:spPr>
        <p:txBody>
          <a:bodyPr wrap="square" rtlCol="0"/>
          <a:lstStyle/>
          <a:p>
            <a:pPr indent="0" marL="0">
              <a:buNone/>
            </a:pPr>
            <a:r>
              <a:rPr lang="en-US" dirty="0"/>
              <a:t>Exigences non fonctionnelles</a:t>
            </a:r>
            <a:endParaRPr lang="en-US" dirty="0"/>
          </a:p>
        </p:txBody>
      </p:sp>
      <p:sp>
        <p:nvSpPr>
          <p:cNvPr id="4" name="Shape 2"/>
          <p:cNvSpPr/>
          <p:nvPr/>
        </p:nvSpPr>
        <p:spPr>
          <a:xfrm>
            <a:off x="457200" y="1325880"/>
            <a:ext cx="2651760" cy="1554480"/>
          </a:xfrm>
          <a:prstGeom prst="roundRect">
            <a:avLst>
              <a:gd name="adj" fmla="val 4706"/>
            </a:avLst>
          </a:prstGeom>
          <a:solidFill>
            <a:schemeClr val="bg2"/>
          </a:solidFill>
          <a:ln/>
        </p:spPr>
      </p:sp>
      <p:sp>
        <p:nvSpPr>
          <p:cNvPr id="5" name="Text 3"/>
          <p:cNvSpPr txBox="1"/>
          <p:nvPr/>
        </p:nvSpPr>
        <p:spPr>
          <a:xfrm>
            <a:off x="640080" y="1463040"/>
            <a:ext cx="2286000" cy="128016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Sécurité</a:t>
            </a:r>
            <a:endParaRPr lang="en-US" sz="1500" dirty="0"/>
          </a:p>
          <a:p>
            <a:pPr indent="0" marL="0">
              <a:buNone/>
            </a:pPr>
            <a:r>
              <a:rPr lang="en-US" sz="1400" dirty="0">
                <a:solidFill>
                  <a:schemeClr val="tx1"/>
                </a:solidFill>
              </a:rPr>
              <a:t>Clés API côté serveur, contrôle d’accès, journalisation, protection des données.</a:t>
            </a:r>
            <a:endParaRPr lang="en-US" sz="1500" dirty="0"/>
          </a:p>
        </p:txBody>
      </p:sp>
      <p:sp>
        <p:nvSpPr>
          <p:cNvPr id="6" name="Shape 4"/>
          <p:cNvSpPr/>
          <p:nvPr/>
        </p:nvSpPr>
        <p:spPr>
          <a:xfrm>
            <a:off x="3246120" y="1325880"/>
            <a:ext cx="2651760" cy="1554480"/>
          </a:xfrm>
          <a:prstGeom prst="roundRect">
            <a:avLst>
              <a:gd name="adj" fmla="val 4706"/>
            </a:avLst>
          </a:prstGeom>
          <a:solidFill>
            <a:schemeClr val="bg2"/>
          </a:solidFill>
          <a:ln/>
        </p:spPr>
      </p:sp>
      <p:sp>
        <p:nvSpPr>
          <p:cNvPr id="7" name="Text 5"/>
          <p:cNvSpPr txBox="1"/>
          <p:nvPr/>
        </p:nvSpPr>
        <p:spPr>
          <a:xfrm>
            <a:off x="3429000" y="1463040"/>
            <a:ext cx="2286000" cy="128016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Fiabilité</a:t>
            </a:r>
            <a:endParaRPr lang="en-US" sz="1500" dirty="0"/>
          </a:p>
          <a:p>
            <a:pPr indent="0" marL="0">
              <a:buNone/>
            </a:pPr>
            <a:r>
              <a:rPr lang="en-US" sz="1400" dirty="0">
                <a:solidFill>
                  <a:schemeClr val="tx1"/>
                </a:solidFill>
              </a:rPr>
              <a:t>Éviter les doubles validations et gérer les statuts incertains ou tardifs.</a:t>
            </a:r>
            <a:endParaRPr lang="en-US" sz="1500" dirty="0"/>
          </a:p>
        </p:txBody>
      </p:sp>
      <p:sp>
        <p:nvSpPr>
          <p:cNvPr id="8" name="Shape 6"/>
          <p:cNvSpPr/>
          <p:nvPr/>
        </p:nvSpPr>
        <p:spPr>
          <a:xfrm>
            <a:off x="6035040" y="1325880"/>
            <a:ext cx="2651760" cy="1554480"/>
          </a:xfrm>
          <a:prstGeom prst="roundRect">
            <a:avLst>
              <a:gd name="adj" fmla="val 4706"/>
            </a:avLst>
          </a:prstGeom>
          <a:solidFill>
            <a:schemeClr val="bg2"/>
          </a:solidFill>
          <a:ln/>
        </p:spPr>
      </p:sp>
      <p:sp>
        <p:nvSpPr>
          <p:cNvPr id="9" name="Text 7"/>
          <p:cNvSpPr txBox="1"/>
          <p:nvPr/>
        </p:nvSpPr>
        <p:spPr>
          <a:xfrm>
            <a:off x="6217920" y="1463040"/>
            <a:ext cx="2286000" cy="128016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Ergonomie</a:t>
            </a:r>
            <a:endParaRPr lang="en-US" sz="1500" dirty="0"/>
          </a:p>
          <a:p>
            <a:pPr indent="0" marL="0">
              <a:buNone/>
            </a:pPr>
            <a:r>
              <a:rPr lang="en-US" sz="1400" dirty="0">
                <a:solidFill>
                  <a:schemeClr val="tx1"/>
                </a:solidFill>
              </a:rPr>
              <a:t>Parcours clair pour le client et le vendeur, messages d’erreur compréhensibles.</a:t>
            </a:r>
            <a:endParaRPr lang="en-US" sz="1500" dirty="0"/>
          </a:p>
        </p:txBody>
      </p:sp>
      <p:sp>
        <p:nvSpPr>
          <p:cNvPr id="10" name="Shape 8"/>
          <p:cNvSpPr/>
          <p:nvPr/>
        </p:nvSpPr>
        <p:spPr>
          <a:xfrm>
            <a:off x="457200" y="3017520"/>
            <a:ext cx="2651760" cy="1554480"/>
          </a:xfrm>
          <a:prstGeom prst="roundRect">
            <a:avLst>
              <a:gd name="adj" fmla="val 4706"/>
            </a:avLst>
          </a:prstGeom>
          <a:solidFill>
            <a:schemeClr val="bg2"/>
          </a:solidFill>
          <a:ln/>
        </p:spPr>
      </p:sp>
      <p:sp>
        <p:nvSpPr>
          <p:cNvPr id="11" name="Text 9"/>
          <p:cNvSpPr txBox="1"/>
          <p:nvPr/>
        </p:nvSpPr>
        <p:spPr>
          <a:xfrm>
            <a:off x="640080" y="3154680"/>
            <a:ext cx="2286000" cy="128016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Traçabilité</a:t>
            </a:r>
            <a:endParaRPr lang="en-US" sz="1500" dirty="0"/>
          </a:p>
          <a:p>
            <a:pPr indent="0" marL="0">
              <a:buNone/>
            </a:pPr>
            <a:r>
              <a:rPr lang="en-US" sz="1400" dirty="0">
                <a:solidFill>
                  <a:schemeClr val="tx1"/>
                </a:solidFill>
              </a:rPr>
              <a:t>Référence unique par tentative et historique des changements de statut.</a:t>
            </a:r>
            <a:endParaRPr lang="en-US" sz="1500" dirty="0"/>
          </a:p>
        </p:txBody>
      </p:sp>
      <p:sp>
        <p:nvSpPr>
          <p:cNvPr id="12" name="Shape 10"/>
          <p:cNvSpPr/>
          <p:nvPr/>
        </p:nvSpPr>
        <p:spPr>
          <a:xfrm>
            <a:off x="3246120" y="3017520"/>
            <a:ext cx="2651760" cy="1554480"/>
          </a:xfrm>
          <a:prstGeom prst="roundRect">
            <a:avLst>
              <a:gd name="adj" fmla="val 4706"/>
            </a:avLst>
          </a:prstGeom>
          <a:solidFill>
            <a:schemeClr val="bg2"/>
          </a:solidFill>
          <a:ln/>
        </p:spPr>
      </p:sp>
      <p:sp>
        <p:nvSpPr>
          <p:cNvPr id="13" name="Text 11"/>
          <p:cNvSpPr txBox="1"/>
          <p:nvPr/>
        </p:nvSpPr>
        <p:spPr>
          <a:xfrm>
            <a:off x="3429000" y="3154680"/>
            <a:ext cx="2286000" cy="128016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Compatibilité</a:t>
            </a:r>
            <a:endParaRPr lang="en-US" sz="1500" dirty="0"/>
          </a:p>
          <a:p>
            <a:pPr indent="0" marL="0">
              <a:buNone/>
            </a:pPr>
            <a:r>
              <a:rPr lang="en-US" sz="1400" dirty="0">
                <a:solidFill>
                  <a:schemeClr val="tx1"/>
                </a:solidFill>
              </a:rPr>
              <a:t>Intégration au système existant selon l’architecture et les droits d’accès.</a:t>
            </a:r>
            <a:endParaRPr lang="en-US" sz="1500" dirty="0"/>
          </a:p>
        </p:txBody>
      </p:sp>
      <p:sp>
        <p:nvSpPr>
          <p:cNvPr id="14" name="Shape 12"/>
          <p:cNvSpPr/>
          <p:nvPr/>
        </p:nvSpPr>
        <p:spPr>
          <a:xfrm>
            <a:off x="6035040" y="3017520"/>
            <a:ext cx="2651760" cy="1554480"/>
          </a:xfrm>
          <a:prstGeom prst="roundRect">
            <a:avLst>
              <a:gd name="adj" fmla="val 4706"/>
            </a:avLst>
          </a:prstGeom>
          <a:solidFill>
            <a:schemeClr val="bg2"/>
          </a:solidFill>
          <a:ln/>
        </p:spPr>
      </p:sp>
      <p:sp>
        <p:nvSpPr>
          <p:cNvPr id="15" name="Text 13"/>
          <p:cNvSpPr txBox="1"/>
          <p:nvPr/>
        </p:nvSpPr>
        <p:spPr>
          <a:xfrm>
            <a:off x="6217920" y="3154680"/>
            <a:ext cx="2286000" cy="128016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Maintenabilité</a:t>
            </a:r>
            <a:endParaRPr lang="en-US" sz="1500" dirty="0"/>
          </a:p>
          <a:p>
            <a:pPr indent="0" marL="0">
              <a:buNone/>
            </a:pPr>
            <a:r>
              <a:rPr lang="en-US" sz="1400" dirty="0">
                <a:solidFill>
                  <a:schemeClr val="tx1"/>
                </a:solidFill>
              </a:rPr>
              <a:t>Code documenté, configuration séparée et tests reproductibles.</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05 • CONCEPTION</a:t>
            </a:r>
            <a:endParaRPr lang="en-US" sz="1100" dirty="0"/>
          </a:p>
        </p:txBody>
      </p:sp>
      <p:sp>
        <p:nvSpPr>
          <p:cNvPr id="3" name="Text 1"/>
          <p:cNvSpPr/>
          <p:nvPr/>
        </p:nvSpPr>
        <p:spPr>
          <a:xfrm>
            <a:off x="0" y="0"/>
            <a:ext cx="6858000" cy="0"/>
          </a:xfrm>
          <a:prstGeom prst="rect">
            <a:avLst/>
          </a:prstGeom>
          <a:noFill/>
          <a:ln/>
        </p:spPr>
        <p:txBody>
          <a:bodyPr wrap="square" rtlCol="0"/>
          <a:lstStyle/>
          <a:p>
            <a:pPr indent="0" marL="0">
              <a:buNone/>
            </a:pPr>
            <a:r>
              <a:rPr lang="en-US" dirty="0"/>
              <a:t>Données et architecture cible</a:t>
            </a:r>
            <a:endParaRPr lang="en-US" dirty="0"/>
          </a:p>
        </p:txBody>
      </p:sp>
      <p:sp>
        <p:nvSpPr>
          <p:cNvPr id="4" name="Shape 2"/>
          <p:cNvSpPr/>
          <p:nvPr/>
        </p:nvSpPr>
        <p:spPr>
          <a:xfrm>
            <a:off x="457200" y="1325880"/>
            <a:ext cx="1965960" cy="1508760"/>
          </a:xfrm>
          <a:prstGeom prst="roundRect">
            <a:avLst>
              <a:gd name="adj" fmla="val 4848"/>
            </a:avLst>
          </a:prstGeom>
          <a:solidFill>
            <a:schemeClr val="bg2"/>
          </a:solidFill>
          <a:ln/>
        </p:spPr>
      </p:sp>
      <p:sp>
        <p:nvSpPr>
          <p:cNvPr id="5" name="Text 3"/>
          <p:cNvSpPr txBox="1"/>
          <p:nvPr/>
        </p:nvSpPr>
        <p:spPr>
          <a:xfrm>
            <a:off x="640080" y="1463040"/>
            <a:ext cx="1600200" cy="123444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Vente</a:t>
            </a:r>
            <a:endParaRPr lang="en-US" sz="1500" dirty="0"/>
          </a:p>
          <a:p>
            <a:pPr indent="0" marL="0">
              <a:buNone/>
            </a:pPr>
            <a:r>
              <a:rPr lang="en-US" sz="1200" dirty="0">
                <a:solidFill>
                  <a:schemeClr val="tx1"/>
                </a:solidFill>
              </a:rPr>
              <a:t>Référence, montant, date, statut.</a:t>
            </a:r>
            <a:endParaRPr lang="en-US" sz="1500" dirty="0"/>
          </a:p>
        </p:txBody>
      </p:sp>
      <p:sp>
        <p:nvSpPr>
          <p:cNvPr id="6" name="Shape 4"/>
          <p:cNvSpPr/>
          <p:nvPr/>
        </p:nvSpPr>
        <p:spPr>
          <a:xfrm>
            <a:off x="2542032" y="1325880"/>
            <a:ext cx="1965960" cy="1508760"/>
          </a:xfrm>
          <a:prstGeom prst="roundRect">
            <a:avLst>
              <a:gd name="adj" fmla="val 4848"/>
            </a:avLst>
          </a:prstGeom>
          <a:solidFill>
            <a:schemeClr val="bg2"/>
          </a:solidFill>
          <a:ln/>
        </p:spPr>
      </p:sp>
      <p:sp>
        <p:nvSpPr>
          <p:cNvPr id="7" name="Text 5"/>
          <p:cNvSpPr txBox="1"/>
          <p:nvPr/>
        </p:nvSpPr>
        <p:spPr>
          <a:xfrm>
            <a:off x="2724912" y="1463040"/>
            <a:ext cx="1600200" cy="123444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Paiement</a:t>
            </a:r>
            <a:endParaRPr lang="en-US" sz="1500" dirty="0"/>
          </a:p>
          <a:p>
            <a:pPr indent="0" marL="0">
              <a:buNone/>
            </a:pPr>
            <a:r>
              <a:rPr lang="en-US" sz="1200" dirty="0">
                <a:solidFill>
                  <a:schemeClr val="tx1"/>
                </a:solidFill>
              </a:rPr>
              <a:t>Vente liée, opérateur, montant, statut, référence externe.</a:t>
            </a:r>
            <a:endParaRPr lang="en-US" sz="1500" dirty="0"/>
          </a:p>
        </p:txBody>
      </p:sp>
      <p:sp>
        <p:nvSpPr>
          <p:cNvPr id="8" name="Shape 6"/>
          <p:cNvSpPr/>
          <p:nvPr/>
        </p:nvSpPr>
        <p:spPr>
          <a:xfrm>
            <a:off x="4626864" y="1325880"/>
            <a:ext cx="1965960" cy="1508760"/>
          </a:xfrm>
          <a:prstGeom prst="roundRect">
            <a:avLst>
              <a:gd name="adj" fmla="val 4848"/>
            </a:avLst>
          </a:prstGeom>
          <a:solidFill>
            <a:schemeClr val="bg2"/>
          </a:solidFill>
          <a:ln/>
        </p:spPr>
      </p:sp>
      <p:sp>
        <p:nvSpPr>
          <p:cNvPr id="9" name="Text 7"/>
          <p:cNvSpPr txBox="1"/>
          <p:nvPr/>
        </p:nvSpPr>
        <p:spPr>
          <a:xfrm>
            <a:off x="4809744" y="1463040"/>
            <a:ext cx="1600200" cy="123444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Client</a:t>
            </a:r>
            <a:endParaRPr lang="en-US" sz="1500" dirty="0"/>
          </a:p>
          <a:p>
            <a:pPr indent="0" marL="0">
              <a:buNone/>
            </a:pPr>
            <a:r>
              <a:rPr lang="en-US" sz="1200" dirty="0">
                <a:solidFill>
                  <a:schemeClr val="tx1"/>
                </a:solidFill>
              </a:rPr>
              <a:t>Identifiant et données strictement nécessaires.</a:t>
            </a:r>
            <a:endParaRPr lang="en-US" sz="1500" dirty="0"/>
          </a:p>
        </p:txBody>
      </p:sp>
      <p:sp>
        <p:nvSpPr>
          <p:cNvPr id="10" name="Shape 8"/>
          <p:cNvSpPr/>
          <p:nvPr/>
        </p:nvSpPr>
        <p:spPr>
          <a:xfrm>
            <a:off x="6711696" y="1325880"/>
            <a:ext cx="1965960" cy="1508760"/>
          </a:xfrm>
          <a:prstGeom prst="roundRect">
            <a:avLst>
              <a:gd name="adj" fmla="val 4848"/>
            </a:avLst>
          </a:prstGeom>
          <a:solidFill>
            <a:schemeClr val="bg2"/>
          </a:solidFill>
          <a:ln/>
        </p:spPr>
      </p:sp>
      <p:sp>
        <p:nvSpPr>
          <p:cNvPr id="11" name="Text 9"/>
          <p:cNvSpPr txBox="1"/>
          <p:nvPr/>
        </p:nvSpPr>
        <p:spPr>
          <a:xfrm>
            <a:off x="6894576" y="1463040"/>
            <a:ext cx="1600200" cy="123444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Utilisateur</a:t>
            </a:r>
            <a:endParaRPr lang="en-US" sz="1500" dirty="0"/>
          </a:p>
          <a:p>
            <a:pPr indent="0" marL="0">
              <a:buNone/>
            </a:pPr>
            <a:r>
              <a:rPr lang="en-US" sz="1200" dirty="0">
                <a:solidFill>
                  <a:schemeClr val="tx1"/>
                </a:solidFill>
              </a:rPr>
              <a:t>Rôle, droits d’accès, actions réalisées.</a:t>
            </a:r>
            <a:endParaRPr lang="en-US" sz="1500" dirty="0"/>
          </a:p>
        </p:txBody>
      </p:sp>
      <p:sp>
        <p:nvSpPr>
          <p:cNvPr id="12" name="Shape 10"/>
          <p:cNvSpPr/>
          <p:nvPr/>
        </p:nvSpPr>
        <p:spPr>
          <a:xfrm>
            <a:off x="457200" y="3017520"/>
            <a:ext cx="2377440" cy="685800"/>
          </a:xfrm>
          <a:prstGeom prst="roundRect">
            <a:avLst>
              <a:gd name="adj" fmla="val 10667"/>
            </a:avLst>
          </a:prstGeom>
          <a:solidFill>
            <a:schemeClr val="tx1"/>
          </a:solidFill>
          <a:ln/>
        </p:spPr>
      </p:sp>
      <p:sp>
        <p:nvSpPr>
          <p:cNvPr id="13" name="Text 11"/>
          <p:cNvSpPr txBox="1"/>
          <p:nvPr/>
        </p:nvSpPr>
        <p:spPr>
          <a:xfrm>
            <a:off x="457200" y="3017520"/>
            <a:ext cx="2377440" cy="685800"/>
          </a:xfrm>
          <a:prstGeom prst="rect">
            <a:avLst/>
          </a:prstGeom>
          <a:noFill/>
          <a:ln/>
        </p:spPr>
        <p:txBody>
          <a:bodyPr wrap="square" lIns="0" tIns="0" rIns="0" bIns="0" rtlCol="0" anchor="ctr"/>
          <a:lstStyle/>
          <a:p>
            <a:pPr algn="ctr" indent="0" marL="0">
              <a:buNone/>
            </a:pPr>
            <a:r>
              <a:rPr lang="en-US" sz="1400" b="1" dirty="0">
                <a:solidFill>
                  <a:schemeClr val="bg1"/>
                </a:solidFill>
              </a:rPr>
              <a:t>Interface client / vendeur</a:t>
            </a:r>
            <a:endParaRPr lang="en-US" sz="1400" dirty="0"/>
          </a:p>
        </p:txBody>
      </p:sp>
      <p:sp>
        <p:nvSpPr>
          <p:cNvPr id="14" name="Text 12"/>
          <p:cNvSpPr txBox="1"/>
          <p:nvPr/>
        </p:nvSpPr>
        <p:spPr>
          <a:xfrm>
            <a:off x="2834640" y="3017520"/>
            <a:ext cx="548640" cy="6858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15" name="Shape 13"/>
          <p:cNvSpPr/>
          <p:nvPr/>
        </p:nvSpPr>
        <p:spPr>
          <a:xfrm>
            <a:off x="3383280" y="3017520"/>
            <a:ext cx="2377440" cy="685800"/>
          </a:xfrm>
          <a:prstGeom prst="roundRect">
            <a:avLst>
              <a:gd name="adj" fmla="val 10667"/>
            </a:avLst>
          </a:prstGeom>
          <a:solidFill>
            <a:schemeClr val="tx1"/>
          </a:solidFill>
          <a:ln/>
        </p:spPr>
      </p:sp>
      <p:sp>
        <p:nvSpPr>
          <p:cNvPr id="16" name="Text 14"/>
          <p:cNvSpPr txBox="1"/>
          <p:nvPr/>
        </p:nvSpPr>
        <p:spPr>
          <a:xfrm>
            <a:off x="3383280" y="3017520"/>
            <a:ext cx="2377440" cy="685800"/>
          </a:xfrm>
          <a:prstGeom prst="rect">
            <a:avLst/>
          </a:prstGeom>
          <a:noFill/>
          <a:ln/>
        </p:spPr>
        <p:txBody>
          <a:bodyPr wrap="square" lIns="0" tIns="0" rIns="0" bIns="0" rtlCol="0" anchor="ctr"/>
          <a:lstStyle/>
          <a:p>
            <a:pPr algn="ctr" indent="0" marL="0">
              <a:buNone/>
            </a:pPr>
            <a:r>
              <a:rPr lang="en-US" sz="1400" b="1" dirty="0">
                <a:solidFill>
                  <a:schemeClr val="bg1"/>
                </a:solidFill>
              </a:rPr>
              <a:t>Serveur applicatif</a:t>
            </a:r>
            <a:endParaRPr lang="en-US" sz="1400" dirty="0"/>
          </a:p>
        </p:txBody>
      </p:sp>
      <p:sp>
        <p:nvSpPr>
          <p:cNvPr id="17" name="Text 15"/>
          <p:cNvSpPr txBox="1"/>
          <p:nvPr/>
        </p:nvSpPr>
        <p:spPr>
          <a:xfrm>
            <a:off x="5760720" y="3017520"/>
            <a:ext cx="548640" cy="6858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18" name="Shape 16"/>
          <p:cNvSpPr/>
          <p:nvPr/>
        </p:nvSpPr>
        <p:spPr>
          <a:xfrm>
            <a:off x="6309360" y="3017520"/>
            <a:ext cx="2377440" cy="685800"/>
          </a:xfrm>
          <a:prstGeom prst="roundRect">
            <a:avLst>
              <a:gd name="adj" fmla="val 10667"/>
            </a:avLst>
          </a:prstGeom>
          <a:solidFill>
            <a:schemeClr val="tx1"/>
          </a:solidFill>
          <a:ln/>
        </p:spPr>
      </p:sp>
      <p:sp>
        <p:nvSpPr>
          <p:cNvPr id="19" name="Text 17"/>
          <p:cNvSpPr txBox="1"/>
          <p:nvPr/>
        </p:nvSpPr>
        <p:spPr>
          <a:xfrm>
            <a:off x="6309360" y="3017520"/>
            <a:ext cx="2377440" cy="685800"/>
          </a:xfrm>
          <a:prstGeom prst="rect">
            <a:avLst/>
          </a:prstGeom>
          <a:noFill/>
          <a:ln/>
        </p:spPr>
        <p:txBody>
          <a:bodyPr wrap="square" lIns="0" tIns="0" rIns="0" bIns="0" rtlCol="0" anchor="ctr"/>
          <a:lstStyle/>
          <a:p>
            <a:pPr algn="ctr" indent="0" marL="0">
              <a:buNone/>
            </a:pPr>
            <a:r>
              <a:rPr lang="en-US" sz="1400" b="1" dirty="0">
                <a:solidFill>
                  <a:schemeClr val="bg1"/>
                </a:solidFill>
              </a:rPr>
              <a:t>API du prestataire</a:t>
            </a:r>
            <a:endParaRPr lang="en-US" sz="1400" dirty="0"/>
          </a:p>
        </p:txBody>
      </p:sp>
      <p:sp>
        <p:nvSpPr>
          <p:cNvPr id="20" name="Shape 18"/>
          <p:cNvSpPr/>
          <p:nvPr/>
        </p:nvSpPr>
        <p:spPr>
          <a:xfrm>
            <a:off x="457200" y="3840480"/>
            <a:ext cx="8229600" cy="731520"/>
          </a:xfrm>
          <a:prstGeom prst="roundRect">
            <a:avLst>
              <a:gd name="adj" fmla="val 10000"/>
            </a:avLst>
          </a:prstGeom>
          <a:solidFill>
            <a:schemeClr val="accent1"/>
          </a:solidFill>
          <a:ln/>
        </p:spPr>
      </p:sp>
      <p:sp>
        <p:nvSpPr>
          <p:cNvPr id="21" name="Text 19"/>
          <p:cNvSpPr txBox="1"/>
          <p:nvPr/>
        </p:nvSpPr>
        <p:spPr>
          <a:xfrm>
            <a:off x="640080" y="3977640"/>
            <a:ext cx="7863840" cy="457200"/>
          </a:xfrm>
          <a:prstGeom prst="rect">
            <a:avLst/>
          </a:prstGeom>
          <a:noFill/>
          <a:ln/>
        </p:spPr>
        <p:txBody>
          <a:bodyPr wrap="square" lIns="0" tIns="0" rIns="0" bIns="0" rtlCol="0" anchor="t"/>
          <a:lstStyle/>
          <a:p>
            <a:pPr indent="0" marL="0">
              <a:spcAft>
                <a:spcPts val="500"/>
              </a:spcAft>
              <a:buNone/>
            </a:pPr>
            <a:endParaRPr lang="en-US" sz="1500" dirty="0"/>
          </a:p>
          <a:p>
            <a:pPr indent="0" marL="0">
              <a:buNone/>
            </a:pPr>
            <a:r>
              <a:rPr lang="en-US" sz="1400" dirty="0">
                <a:solidFill>
                  <a:schemeClr val="bg1"/>
                </a:solidFill>
              </a:rPr>
              <a:t>Le serveur vérifie la confirmation avant de mettre à jour la vente. Le code PIN Mobile Money n’est jamais stocké.</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06 • VALIDATION</a:t>
            </a:r>
            <a:endParaRPr lang="en-US" sz="1100" dirty="0"/>
          </a:p>
        </p:txBody>
      </p:sp>
      <p:sp>
        <p:nvSpPr>
          <p:cNvPr id="3" name="Text 1"/>
          <p:cNvSpPr/>
          <p:nvPr/>
        </p:nvSpPr>
        <p:spPr>
          <a:xfrm>
            <a:off x="0" y="0"/>
            <a:ext cx="6858000" cy="0"/>
          </a:xfrm>
          <a:prstGeom prst="rect">
            <a:avLst/>
          </a:prstGeom>
          <a:noFill/>
          <a:ln/>
        </p:spPr>
        <p:txBody>
          <a:bodyPr wrap="square" rtlCol="0"/>
          <a:lstStyle/>
          <a:p>
            <a:pPr indent="0" marL="0">
              <a:buNone/>
            </a:pPr>
            <a:r>
              <a:rPr lang="en-US" dirty="0"/>
              <a:t>Critères d’acceptation et tests</a:t>
            </a:r>
            <a:endParaRPr lang="en-US"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377440"/>
                <a:gridCol w="5852160"/>
              </a:tblGrid>
              <a:tr h="411480">
                <a:tc>
                  <a:txBody>
                    <a:bodyPr/>
                    <a:lstStyle/>
                    <a:p>
                      <a:pPr indent="0" marL="0">
                        <a:buNone/>
                      </a:pPr>
                      <a:r>
                        <a:rPr lang="en-US" sz="1200" b="1" dirty="0">
                          <a:solidFill>
                            <a:srgbClr val="FFFFFF"/>
                          </a:solidFill>
                        </a:rPr>
                        <a:t>Scénario</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0B0B0F"/>
                    </a:solidFill>
                  </a:tcPr>
                </a:tc>
                <a:tc>
                  <a:txBody>
                    <a:bodyPr/>
                    <a:lstStyle/>
                    <a:p>
                      <a:pPr indent="0" marL="0">
                        <a:buNone/>
                      </a:pPr>
                      <a:r>
                        <a:rPr lang="en-US" sz="1200" b="1" dirty="0">
                          <a:solidFill>
                            <a:srgbClr val="FFFFFF"/>
                          </a:solidFill>
                        </a:rPr>
                        <a:t>Résultat attendu</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0B0B0F"/>
                    </a:solidFill>
                  </a:tcPr>
                </a:tc>
              </a:tr>
              <a:tr h="411480">
                <a:tc>
                  <a:txBody>
                    <a:bodyPr/>
                    <a:lstStyle/>
                    <a:p>
                      <a:pPr indent="0" marL="0">
                        <a:buNone/>
                      </a:pPr>
                      <a:r>
                        <a:rPr lang="en-US" sz="1200" b="1" dirty="0">
                          <a:solidFill>
                            <a:srgbClr val="1558F0"/>
                          </a:solidFill>
                        </a:rPr>
                        <a:t>Paiement réussi</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Transaction confirmée et vente au statut payé.</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558F0"/>
                          </a:solidFill>
                        </a:rPr>
                        <a:t>Paiement refusé</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c>
                  <a:txBody>
                    <a:bodyPr/>
                    <a:lstStyle/>
                    <a:p>
                      <a:pPr indent="0" marL="0">
                        <a:buNone/>
                      </a:pPr>
                      <a:r>
                        <a:rPr lang="en-US" sz="1200" dirty="0">
                          <a:solidFill>
                            <a:srgbClr val="0B0B0F"/>
                          </a:solidFill>
                        </a:rPr>
                        <a:t>La vente reste non payée, un message clair est affiché.</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r>
              <a:tr h="411480">
                <a:tc>
                  <a:txBody>
                    <a:bodyPr/>
                    <a:lstStyle/>
                    <a:p>
                      <a:pPr indent="0" marL="0">
                        <a:buNone/>
                      </a:pPr>
                      <a:r>
                        <a:rPr lang="en-US" sz="1200" b="1" dirty="0">
                          <a:solidFill>
                            <a:srgbClr val="1558F0"/>
                          </a:solidFill>
                        </a:rPr>
                        <a:t>Paiement en attente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Statut conservé en attente, vérification ultérieure possible.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558F0"/>
                          </a:solidFill>
                        </a:rPr>
                        <a:t>Réponse reçue deux fois</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c>
                  <a:txBody>
                    <a:bodyPr/>
                    <a:lstStyle/>
                    <a:p>
                      <a:pPr indent="0" marL="0">
                        <a:buNone/>
                      </a:pPr>
                      <a:r>
                        <a:rPr lang="en-US" sz="1200" dirty="0">
                          <a:solidFill>
                            <a:srgbClr val="0B0B0F"/>
                          </a:solidFill>
                        </a:rPr>
                        <a:t>La transaction n’est pas comptabilisée deux fois.</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r>
              <a:tr h="411480">
                <a:tc>
                  <a:txBody>
                    <a:bodyPr/>
                    <a:lstStyle/>
                    <a:p>
                      <a:pPr indent="0" marL="0">
                        <a:buNone/>
                      </a:pPr>
                      <a:r>
                        <a:rPr lang="en-US" sz="1200" b="1" dirty="0">
                          <a:solidFill>
                            <a:srgbClr val="1558F0"/>
                          </a:solidFill>
                        </a:rPr>
                        <a:t>Connexion interrompue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Le statut n’est pas supposé réussi ; vérification nécessaire.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558F0"/>
                          </a:solidFill>
                        </a:rPr>
                        <a:t>Référence inconnue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c>
                  <a:txBody>
                    <a:bodyPr/>
                    <a:lstStyle/>
                    <a:p>
                      <a:pPr indent="0" marL="0">
                        <a:buNone/>
                      </a:pPr>
                      <a:r>
                        <a:rPr lang="en-US" sz="1200" dirty="0">
                          <a:solidFill>
                            <a:srgbClr val="0B0B0F"/>
                          </a:solidFill>
                        </a:rPr>
                        <a:t>Aucune vente non correspondante n’est modifiée.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06 • VALIDATION</a:t>
            </a:r>
            <a:endParaRPr lang="en-US" sz="1100" dirty="0"/>
          </a:p>
        </p:txBody>
      </p:sp>
      <p:sp>
        <p:nvSpPr>
          <p:cNvPr id="3" name="Text 1"/>
          <p:cNvSpPr/>
          <p:nvPr/>
        </p:nvSpPr>
        <p:spPr>
          <a:xfrm>
            <a:off x="0" y="0"/>
            <a:ext cx="6858000" cy="0"/>
          </a:xfrm>
          <a:prstGeom prst="rect">
            <a:avLst/>
          </a:prstGeom>
          <a:noFill/>
          <a:ln/>
        </p:spPr>
        <p:txBody>
          <a:bodyPr wrap="square" rtlCol="0"/>
          <a:lstStyle/>
          <a:p>
            <a:pPr indent="0" marL="0">
              <a:buNone/>
            </a:pPr>
            <a:r>
              <a:rPr lang="en-US" dirty="0"/>
              <a:t>Planning prévisionnel</a:t>
            </a:r>
            <a:endParaRPr lang="en-US" dirty="0"/>
          </a:p>
        </p:txBody>
      </p:sp>
      <p:sp>
        <p:nvSpPr>
          <p:cNvPr id="4" name="Shape 2"/>
          <p:cNvSpPr/>
          <p:nvPr/>
        </p:nvSpPr>
        <p:spPr>
          <a:xfrm>
            <a:off x="457200" y="1325880"/>
            <a:ext cx="1554480" cy="2743200"/>
          </a:xfrm>
          <a:prstGeom prst="roundRect">
            <a:avLst>
              <a:gd name="adj" fmla="val 4706"/>
            </a:avLst>
          </a:prstGeom>
          <a:solidFill>
            <a:schemeClr val="accent1"/>
          </a:solidFill>
          <a:ln/>
        </p:spPr>
      </p:sp>
      <p:sp>
        <p:nvSpPr>
          <p:cNvPr id="5" name="Text 3"/>
          <p:cNvSpPr txBox="1"/>
          <p:nvPr/>
        </p:nvSpPr>
        <p:spPr>
          <a:xfrm>
            <a:off x="594360" y="1463040"/>
            <a:ext cx="1280160" cy="457200"/>
          </a:xfrm>
          <a:prstGeom prst="rect">
            <a:avLst/>
          </a:prstGeom>
          <a:noFill/>
          <a:ln/>
        </p:spPr>
        <p:txBody>
          <a:bodyPr wrap="square" lIns="0" tIns="0" rIns="0" bIns="0" rtlCol="0" anchor="ctr"/>
          <a:lstStyle/>
          <a:p>
            <a:pPr indent="0" marL="0">
              <a:buNone/>
            </a:pPr>
            <a:r>
              <a:rPr lang="en-US" sz="2800" b="1" dirty="0">
                <a:solidFill>
                  <a:schemeClr val="bg1"/>
                </a:solidFill>
              </a:rPr>
              <a:t>1</a:t>
            </a:r>
            <a:endParaRPr lang="en-US" sz="2800" dirty="0"/>
          </a:p>
        </p:txBody>
      </p:sp>
      <p:sp>
        <p:nvSpPr>
          <p:cNvPr id="6" name="Text 4"/>
          <p:cNvSpPr txBox="1"/>
          <p:nvPr/>
        </p:nvSpPr>
        <p:spPr>
          <a:xfrm>
            <a:off x="594360" y="1965960"/>
            <a:ext cx="1280160" cy="274320"/>
          </a:xfrm>
          <a:prstGeom prst="rect">
            <a:avLst/>
          </a:prstGeom>
          <a:noFill/>
          <a:ln/>
        </p:spPr>
        <p:txBody>
          <a:bodyPr wrap="square" lIns="0" tIns="0" rIns="0" bIns="0" rtlCol="0" anchor="ctr"/>
          <a:lstStyle/>
          <a:p>
            <a:pPr indent="0" marL="0">
              <a:buNone/>
            </a:pPr>
            <a:r>
              <a:rPr lang="en-US" sz="1400" b="1" dirty="0">
                <a:solidFill>
                  <a:schemeClr val="bg1"/>
                </a:solidFill>
              </a:rPr>
              <a:t>Analyse</a:t>
            </a:r>
            <a:endParaRPr lang="en-US" sz="1400" dirty="0"/>
          </a:p>
        </p:txBody>
      </p:sp>
      <p:sp>
        <p:nvSpPr>
          <p:cNvPr id="7" name="Text 5"/>
          <p:cNvSpPr txBox="1"/>
          <p:nvPr/>
        </p:nvSpPr>
        <p:spPr>
          <a:xfrm>
            <a:off x="594360" y="2286000"/>
            <a:ext cx="1280160" cy="1280160"/>
          </a:xfrm>
          <a:prstGeom prst="rect">
            <a:avLst/>
          </a:prstGeom>
          <a:noFill/>
          <a:ln/>
        </p:spPr>
        <p:txBody>
          <a:bodyPr wrap="square" lIns="0" tIns="0" rIns="0" bIns="0" rtlCol="0" anchor="t"/>
          <a:lstStyle/>
          <a:p>
            <a:pPr indent="0" marL="0">
              <a:buNone/>
            </a:pPr>
            <a:r>
              <a:rPr lang="en-US" sz="1200" dirty="0">
                <a:solidFill>
                  <a:schemeClr val="bg1"/>
                </a:solidFill>
              </a:rPr>
              <a:t>Confirmer flux actuels, acteurs, contraintes et accès.</a:t>
            </a:r>
            <a:endParaRPr lang="en-US" sz="1200" dirty="0"/>
          </a:p>
        </p:txBody>
      </p:sp>
      <p:sp>
        <p:nvSpPr>
          <p:cNvPr id="8" name="Text 6"/>
          <p:cNvSpPr txBox="1"/>
          <p:nvPr/>
        </p:nvSpPr>
        <p:spPr>
          <a:xfrm>
            <a:off x="594360" y="3703320"/>
            <a:ext cx="1280160" cy="228600"/>
          </a:xfrm>
          <a:prstGeom prst="rect">
            <a:avLst/>
          </a:prstGeom>
          <a:noFill/>
          <a:ln/>
        </p:spPr>
        <p:txBody>
          <a:bodyPr wrap="square" lIns="0" tIns="0" rIns="0" bIns="0" rtlCol="0" anchor="ctr"/>
          <a:lstStyle/>
          <a:p>
            <a:pPr indent="0" marL="0">
              <a:buNone/>
            </a:pPr>
            <a:r>
              <a:rPr lang="en-US" sz="1100" b="1" dirty="0">
                <a:solidFill>
                  <a:schemeClr val="bg1"/>
                </a:solidFill>
              </a:rPr>
              <a:t>Réalisé</a:t>
            </a:r>
            <a:endParaRPr lang="en-US" sz="1100" dirty="0"/>
          </a:p>
        </p:txBody>
      </p:sp>
      <p:sp>
        <p:nvSpPr>
          <p:cNvPr id="9" name="Shape 7"/>
          <p:cNvSpPr/>
          <p:nvPr/>
        </p:nvSpPr>
        <p:spPr>
          <a:xfrm>
            <a:off x="2125980" y="1325880"/>
            <a:ext cx="1554480" cy="2743200"/>
          </a:xfrm>
          <a:prstGeom prst="roundRect">
            <a:avLst>
              <a:gd name="adj" fmla="val 4706"/>
            </a:avLst>
          </a:prstGeom>
          <a:solidFill>
            <a:schemeClr val="accent1"/>
          </a:solidFill>
          <a:ln/>
        </p:spPr>
      </p:sp>
      <p:sp>
        <p:nvSpPr>
          <p:cNvPr id="10" name="Text 8"/>
          <p:cNvSpPr txBox="1"/>
          <p:nvPr/>
        </p:nvSpPr>
        <p:spPr>
          <a:xfrm>
            <a:off x="2263140" y="1463040"/>
            <a:ext cx="1280160" cy="457200"/>
          </a:xfrm>
          <a:prstGeom prst="rect">
            <a:avLst/>
          </a:prstGeom>
          <a:noFill/>
          <a:ln/>
        </p:spPr>
        <p:txBody>
          <a:bodyPr wrap="square" lIns="0" tIns="0" rIns="0" bIns="0" rtlCol="0" anchor="ctr"/>
          <a:lstStyle/>
          <a:p>
            <a:pPr indent="0" marL="0">
              <a:buNone/>
            </a:pPr>
            <a:r>
              <a:rPr lang="en-US" sz="2800" b="1" dirty="0">
                <a:solidFill>
                  <a:schemeClr val="bg1"/>
                </a:solidFill>
              </a:rPr>
              <a:t>2</a:t>
            </a:r>
            <a:endParaRPr lang="en-US" sz="2800" dirty="0"/>
          </a:p>
        </p:txBody>
      </p:sp>
      <p:sp>
        <p:nvSpPr>
          <p:cNvPr id="11" name="Text 9"/>
          <p:cNvSpPr txBox="1"/>
          <p:nvPr/>
        </p:nvSpPr>
        <p:spPr>
          <a:xfrm>
            <a:off x="2263140" y="1965960"/>
            <a:ext cx="1280160" cy="274320"/>
          </a:xfrm>
          <a:prstGeom prst="rect">
            <a:avLst/>
          </a:prstGeom>
          <a:noFill/>
          <a:ln/>
        </p:spPr>
        <p:txBody>
          <a:bodyPr wrap="square" lIns="0" tIns="0" rIns="0" bIns="0" rtlCol="0" anchor="ctr"/>
          <a:lstStyle/>
          <a:p>
            <a:pPr indent="0" marL="0">
              <a:buNone/>
            </a:pPr>
            <a:r>
              <a:rPr lang="en-US" sz="1400" b="1" dirty="0">
                <a:solidFill>
                  <a:schemeClr val="bg1"/>
                </a:solidFill>
              </a:rPr>
              <a:t>Spécifications</a:t>
            </a:r>
            <a:endParaRPr lang="en-US" sz="1400" dirty="0"/>
          </a:p>
        </p:txBody>
      </p:sp>
      <p:sp>
        <p:nvSpPr>
          <p:cNvPr id="12" name="Text 10"/>
          <p:cNvSpPr txBox="1"/>
          <p:nvPr/>
        </p:nvSpPr>
        <p:spPr>
          <a:xfrm>
            <a:off x="2263140" y="2286000"/>
            <a:ext cx="1280160" cy="1280160"/>
          </a:xfrm>
          <a:prstGeom prst="rect">
            <a:avLst/>
          </a:prstGeom>
          <a:noFill/>
          <a:ln/>
        </p:spPr>
        <p:txBody>
          <a:bodyPr wrap="square" lIns="0" tIns="0" rIns="0" bIns="0" rtlCol="0" anchor="t"/>
          <a:lstStyle/>
          <a:p>
            <a:pPr indent="0" marL="0">
              <a:buNone/>
            </a:pPr>
            <a:r>
              <a:rPr lang="en-US" sz="1200" dirty="0">
                <a:solidFill>
                  <a:schemeClr val="bg1"/>
                </a:solidFill>
              </a:rPr>
              <a:t>Valider le cahier des charges et les critères.</a:t>
            </a:r>
            <a:endParaRPr lang="en-US" sz="1200" dirty="0"/>
          </a:p>
        </p:txBody>
      </p:sp>
      <p:sp>
        <p:nvSpPr>
          <p:cNvPr id="13" name="Text 11"/>
          <p:cNvSpPr txBox="1"/>
          <p:nvPr/>
        </p:nvSpPr>
        <p:spPr>
          <a:xfrm>
            <a:off x="2263140" y="3703320"/>
            <a:ext cx="1280160" cy="228600"/>
          </a:xfrm>
          <a:prstGeom prst="rect">
            <a:avLst/>
          </a:prstGeom>
          <a:noFill/>
          <a:ln/>
        </p:spPr>
        <p:txBody>
          <a:bodyPr wrap="square" lIns="0" tIns="0" rIns="0" bIns="0" rtlCol="0" anchor="ctr"/>
          <a:lstStyle/>
          <a:p>
            <a:pPr indent="0" marL="0">
              <a:buNone/>
            </a:pPr>
            <a:r>
              <a:rPr lang="en-US" sz="1100" b="1" dirty="0">
                <a:solidFill>
                  <a:schemeClr val="bg1"/>
                </a:solidFill>
              </a:rPr>
              <a:t>Validé</a:t>
            </a:r>
            <a:endParaRPr lang="en-US" sz="1100" dirty="0"/>
          </a:p>
        </p:txBody>
      </p:sp>
      <p:sp>
        <p:nvSpPr>
          <p:cNvPr id="14" name="Shape 12"/>
          <p:cNvSpPr/>
          <p:nvPr/>
        </p:nvSpPr>
        <p:spPr>
          <a:xfrm>
            <a:off x="3794760" y="1325880"/>
            <a:ext cx="1554480" cy="2743200"/>
          </a:xfrm>
          <a:prstGeom prst="roundRect">
            <a:avLst>
              <a:gd name="adj" fmla="val 4706"/>
            </a:avLst>
          </a:prstGeom>
          <a:solidFill>
            <a:schemeClr val="tx1"/>
          </a:solidFill>
          <a:ln/>
        </p:spPr>
      </p:sp>
      <p:sp>
        <p:nvSpPr>
          <p:cNvPr id="15" name="Text 13"/>
          <p:cNvSpPr txBox="1"/>
          <p:nvPr/>
        </p:nvSpPr>
        <p:spPr>
          <a:xfrm>
            <a:off x="3931920" y="1463040"/>
            <a:ext cx="1280160" cy="457200"/>
          </a:xfrm>
          <a:prstGeom prst="rect">
            <a:avLst/>
          </a:prstGeom>
          <a:noFill/>
          <a:ln/>
        </p:spPr>
        <p:txBody>
          <a:bodyPr wrap="square" lIns="0" tIns="0" rIns="0" bIns="0" rtlCol="0" anchor="ctr"/>
          <a:lstStyle/>
          <a:p>
            <a:pPr indent="0" marL="0">
              <a:buNone/>
            </a:pPr>
            <a:r>
              <a:rPr lang="en-US" sz="2800" b="1" dirty="0">
                <a:solidFill>
                  <a:schemeClr val="accent3"/>
                </a:solidFill>
              </a:rPr>
              <a:t>3</a:t>
            </a:r>
            <a:endParaRPr lang="en-US" sz="2800" dirty="0"/>
          </a:p>
        </p:txBody>
      </p:sp>
      <p:sp>
        <p:nvSpPr>
          <p:cNvPr id="16" name="Text 14"/>
          <p:cNvSpPr txBox="1"/>
          <p:nvPr/>
        </p:nvSpPr>
        <p:spPr>
          <a:xfrm>
            <a:off x="3931920" y="1965960"/>
            <a:ext cx="1280160" cy="274320"/>
          </a:xfrm>
          <a:prstGeom prst="rect">
            <a:avLst/>
          </a:prstGeom>
          <a:noFill/>
          <a:ln/>
        </p:spPr>
        <p:txBody>
          <a:bodyPr wrap="square" lIns="0" tIns="0" rIns="0" bIns="0" rtlCol="0" anchor="ctr"/>
          <a:lstStyle/>
          <a:p>
            <a:pPr indent="0" marL="0">
              <a:buNone/>
            </a:pPr>
            <a:r>
              <a:rPr lang="en-US" sz="1400" b="1" dirty="0">
                <a:solidFill>
                  <a:schemeClr val="bg1"/>
                </a:solidFill>
              </a:rPr>
              <a:t>Conception</a:t>
            </a:r>
            <a:endParaRPr lang="en-US" sz="1400" dirty="0"/>
          </a:p>
        </p:txBody>
      </p:sp>
      <p:sp>
        <p:nvSpPr>
          <p:cNvPr id="17" name="Text 15"/>
          <p:cNvSpPr txBox="1"/>
          <p:nvPr/>
        </p:nvSpPr>
        <p:spPr>
          <a:xfrm>
            <a:off x="3931920" y="2286000"/>
            <a:ext cx="1280160" cy="1280160"/>
          </a:xfrm>
          <a:prstGeom prst="rect">
            <a:avLst/>
          </a:prstGeom>
          <a:noFill/>
          <a:ln/>
        </p:spPr>
        <p:txBody>
          <a:bodyPr wrap="square" lIns="0" tIns="0" rIns="0" bIns="0" rtlCol="0" anchor="t"/>
          <a:lstStyle/>
          <a:p>
            <a:pPr indent="0" marL="0">
              <a:buNone/>
            </a:pPr>
            <a:r>
              <a:rPr lang="en-US" sz="1200" dirty="0">
                <a:solidFill>
                  <a:schemeClr val="bg1"/>
                </a:solidFill>
              </a:rPr>
              <a:t>UML, modèle de données et architecture.</a:t>
            </a:r>
            <a:endParaRPr lang="en-US" sz="1200" dirty="0"/>
          </a:p>
        </p:txBody>
      </p:sp>
      <p:sp>
        <p:nvSpPr>
          <p:cNvPr id="18" name="Text 16"/>
          <p:cNvSpPr txBox="1"/>
          <p:nvPr/>
        </p:nvSpPr>
        <p:spPr>
          <a:xfrm>
            <a:off x="3931920" y="3703320"/>
            <a:ext cx="1280160" cy="228600"/>
          </a:xfrm>
          <a:prstGeom prst="rect">
            <a:avLst/>
          </a:prstGeom>
          <a:noFill/>
          <a:ln/>
        </p:spPr>
        <p:txBody>
          <a:bodyPr wrap="square" lIns="0" tIns="0" rIns="0" bIns="0" rtlCol="0" anchor="ctr"/>
          <a:lstStyle/>
          <a:p>
            <a:pPr indent="0" marL="0">
              <a:buNone/>
            </a:pPr>
            <a:r>
              <a:rPr lang="en-US" sz="1100" b="1" dirty="0">
                <a:solidFill>
                  <a:schemeClr val="accent3"/>
                </a:solidFill>
              </a:rPr>
              <a:t>Prochaine étape</a:t>
            </a:r>
            <a:endParaRPr lang="en-US" sz="1100" dirty="0"/>
          </a:p>
        </p:txBody>
      </p:sp>
      <p:sp>
        <p:nvSpPr>
          <p:cNvPr id="19" name="Shape 17"/>
          <p:cNvSpPr/>
          <p:nvPr/>
        </p:nvSpPr>
        <p:spPr>
          <a:xfrm>
            <a:off x="5463540" y="1325880"/>
            <a:ext cx="1554480" cy="2743200"/>
          </a:xfrm>
          <a:prstGeom prst="roundRect">
            <a:avLst>
              <a:gd name="adj" fmla="val 4706"/>
            </a:avLst>
          </a:prstGeom>
          <a:solidFill>
            <a:schemeClr val="bg2"/>
          </a:solidFill>
          <a:ln/>
        </p:spPr>
      </p:sp>
      <p:sp>
        <p:nvSpPr>
          <p:cNvPr id="20" name="Text 18"/>
          <p:cNvSpPr txBox="1"/>
          <p:nvPr/>
        </p:nvSpPr>
        <p:spPr>
          <a:xfrm>
            <a:off x="5600700" y="1463040"/>
            <a:ext cx="1280160" cy="457200"/>
          </a:xfrm>
          <a:prstGeom prst="rect">
            <a:avLst/>
          </a:prstGeom>
          <a:noFill/>
          <a:ln/>
        </p:spPr>
        <p:txBody>
          <a:bodyPr wrap="square" lIns="0" tIns="0" rIns="0" bIns="0" rtlCol="0" anchor="ctr"/>
          <a:lstStyle/>
          <a:p>
            <a:pPr indent="0" marL="0">
              <a:buNone/>
            </a:pPr>
            <a:r>
              <a:rPr lang="en-US" sz="2800" b="1" dirty="0">
                <a:solidFill>
                  <a:schemeClr val="accent1"/>
                </a:solidFill>
              </a:rPr>
              <a:t>4</a:t>
            </a:r>
            <a:endParaRPr lang="en-US" sz="2800" dirty="0"/>
          </a:p>
        </p:txBody>
      </p:sp>
      <p:sp>
        <p:nvSpPr>
          <p:cNvPr id="21" name="Text 19"/>
          <p:cNvSpPr txBox="1"/>
          <p:nvPr/>
        </p:nvSpPr>
        <p:spPr>
          <a:xfrm>
            <a:off x="5600700" y="1965960"/>
            <a:ext cx="1280160" cy="274320"/>
          </a:xfrm>
          <a:prstGeom prst="rect">
            <a:avLst/>
          </a:prstGeom>
          <a:noFill/>
          <a:ln/>
        </p:spPr>
        <p:txBody>
          <a:bodyPr wrap="square" lIns="0" tIns="0" rIns="0" bIns="0" rtlCol="0" anchor="ctr"/>
          <a:lstStyle/>
          <a:p>
            <a:pPr indent="0" marL="0">
              <a:buNone/>
            </a:pPr>
            <a:r>
              <a:rPr lang="en-US" sz="1400" b="1" dirty="0">
                <a:solidFill>
                  <a:schemeClr val="tx1"/>
                </a:solidFill>
              </a:rPr>
              <a:t>Prototype</a:t>
            </a:r>
            <a:endParaRPr lang="en-US" sz="1400" dirty="0"/>
          </a:p>
        </p:txBody>
      </p:sp>
      <p:sp>
        <p:nvSpPr>
          <p:cNvPr id="22" name="Text 20"/>
          <p:cNvSpPr txBox="1"/>
          <p:nvPr/>
        </p:nvSpPr>
        <p:spPr>
          <a:xfrm>
            <a:off x="5600700" y="2286000"/>
            <a:ext cx="1280160" cy="1280160"/>
          </a:xfrm>
          <a:prstGeom prst="rect">
            <a:avLst/>
          </a:prstGeom>
          <a:noFill/>
          <a:ln/>
        </p:spPr>
        <p:txBody>
          <a:bodyPr wrap="square" lIns="0" tIns="0" rIns="0" bIns="0" rtlCol="0" anchor="t"/>
          <a:lstStyle/>
          <a:p>
            <a:pPr indent="0" marL="0">
              <a:buNone/>
            </a:pPr>
            <a:r>
              <a:rPr lang="en-US" sz="1200" dirty="0">
                <a:solidFill>
                  <a:schemeClr val="tx1"/>
                </a:solidFill>
              </a:rPr>
              <a:t>Un opérateur en environnement de test.</a:t>
            </a:r>
            <a:endParaRPr lang="en-US" sz="1200" dirty="0"/>
          </a:p>
        </p:txBody>
      </p:sp>
      <p:sp>
        <p:nvSpPr>
          <p:cNvPr id="23" name="Text 21"/>
          <p:cNvSpPr txBox="1"/>
          <p:nvPr/>
        </p:nvSpPr>
        <p:spPr>
          <a:xfrm>
            <a:off x="5600700" y="3703320"/>
            <a:ext cx="1280160" cy="228600"/>
          </a:xfrm>
          <a:prstGeom prst="rect">
            <a:avLst/>
          </a:prstGeom>
          <a:noFill/>
          <a:ln/>
        </p:spPr>
        <p:txBody>
          <a:bodyPr wrap="square" lIns="0" tIns="0" rIns="0" bIns="0" rtlCol="0" anchor="ctr"/>
          <a:lstStyle/>
          <a:p>
            <a:pPr indent="0" marL="0">
              <a:buNone/>
            </a:pPr>
            <a:r>
              <a:rPr lang="en-US" sz="1100" b="1" dirty="0">
                <a:solidFill>
                  <a:schemeClr val="tx1"/>
                </a:solidFill>
              </a:rPr>
              <a:t>À venir</a:t>
            </a:r>
            <a:endParaRPr lang="en-US" sz="1100" dirty="0"/>
          </a:p>
        </p:txBody>
      </p:sp>
      <p:sp>
        <p:nvSpPr>
          <p:cNvPr id="24" name="Shape 22"/>
          <p:cNvSpPr/>
          <p:nvPr/>
        </p:nvSpPr>
        <p:spPr>
          <a:xfrm>
            <a:off x="7132320" y="1325880"/>
            <a:ext cx="1554480" cy="2743200"/>
          </a:xfrm>
          <a:prstGeom prst="roundRect">
            <a:avLst>
              <a:gd name="adj" fmla="val 4706"/>
            </a:avLst>
          </a:prstGeom>
          <a:solidFill>
            <a:schemeClr val="bg2"/>
          </a:solidFill>
          <a:ln/>
        </p:spPr>
      </p:sp>
      <p:sp>
        <p:nvSpPr>
          <p:cNvPr id="25" name="Text 23"/>
          <p:cNvSpPr txBox="1"/>
          <p:nvPr/>
        </p:nvSpPr>
        <p:spPr>
          <a:xfrm>
            <a:off x="7269480" y="1463040"/>
            <a:ext cx="1280160" cy="457200"/>
          </a:xfrm>
          <a:prstGeom prst="rect">
            <a:avLst/>
          </a:prstGeom>
          <a:noFill/>
          <a:ln/>
        </p:spPr>
        <p:txBody>
          <a:bodyPr wrap="square" lIns="0" tIns="0" rIns="0" bIns="0" rtlCol="0" anchor="ctr"/>
          <a:lstStyle/>
          <a:p>
            <a:pPr indent="0" marL="0">
              <a:buNone/>
            </a:pPr>
            <a:r>
              <a:rPr lang="en-US" sz="2800" b="1" dirty="0">
                <a:solidFill>
                  <a:schemeClr val="accent1"/>
                </a:solidFill>
              </a:rPr>
              <a:t>5</a:t>
            </a:r>
            <a:endParaRPr lang="en-US" sz="2800" dirty="0"/>
          </a:p>
        </p:txBody>
      </p:sp>
      <p:sp>
        <p:nvSpPr>
          <p:cNvPr id="26" name="Text 24"/>
          <p:cNvSpPr txBox="1"/>
          <p:nvPr/>
        </p:nvSpPr>
        <p:spPr>
          <a:xfrm>
            <a:off x="7269480" y="1965960"/>
            <a:ext cx="1280160" cy="274320"/>
          </a:xfrm>
          <a:prstGeom prst="rect">
            <a:avLst/>
          </a:prstGeom>
          <a:noFill/>
          <a:ln/>
        </p:spPr>
        <p:txBody>
          <a:bodyPr wrap="square" lIns="0" tIns="0" rIns="0" bIns="0" rtlCol="0" anchor="ctr"/>
          <a:lstStyle/>
          <a:p>
            <a:pPr indent="0" marL="0">
              <a:buNone/>
            </a:pPr>
            <a:r>
              <a:rPr lang="en-US" sz="1400" b="1" dirty="0">
                <a:solidFill>
                  <a:schemeClr val="tx1"/>
                </a:solidFill>
              </a:rPr>
              <a:t>Tests / bilan</a:t>
            </a:r>
            <a:endParaRPr lang="en-US" sz="1400" dirty="0"/>
          </a:p>
        </p:txBody>
      </p:sp>
      <p:sp>
        <p:nvSpPr>
          <p:cNvPr id="27" name="Text 25"/>
          <p:cNvSpPr txBox="1"/>
          <p:nvPr/>
        </p:nvSpPr>
        <p:spPr>
          <a:xfrm>
            <a:off x="7269480" y="2286000"/>
            <a:ext cx="1280160" cy="1280160"/>
          </a:xfrm>
          <a:prstGeom prst="rect">
            <a:avLst/>
          </a:prstGeom>
          <a:noFill/>
          <a:ln/>
        </p:spPr>
        <p:txBody>
          <a:bodyPr wrap="square" lIns="0" tIns="0" rIns="0" bIns="0" rtlCol="0" anchor="t"/>
          <a:lstStyle/>
          <a:p>
            <a:pPr indent="0" marL="0">
              <a:buNone/>
            </a:pPr>
            <a:r>
              <a:rPr lang="en-US" sz="1200" dirty="0">
                <a:solidFill>
                  <a:schemeClr val="tx1"/>
                </a:solidFill>
              </a:rPr>
              <a:t>Tests fonctionnels, documentation, limites, recommandations.</a:t>
            </a:r>
            <a:endParaRPr lang="en-US" sz="1200" dirty="0"/>
          </a:p>
        </p:txBody>
      </p:sp>
      <p:sp>
        <p:nvSpPr>
          <p:cNvPr id="28" name="Text 26"/>
          <p:cNvSpPr txBox="1"/>
          <p:nvPr/>
        </p:nvSpPr>
        <p:spPr>
          <a:xfrm>
            <a:off x="7269480" y="3703320"/>
            <a:ext cx="1280160" cy="228600"/>
          </a:xfrm>
          <a:prstGeom prst="rect">
            <a:avLst/>
          </a:prstGeom>
          <a:noFill/>
          <a:ln/>
        </p:spPr>
        <p:txBody>
          <a:bodyPr wrap="square" lIns="0" tIns="0" rIns="0" bIns="0" rtlCol="0" anchor="ctr"/>
          <a:lstStyle/>
          <a:p>
            <a:pPr indent="0" marL="0">
              <a:buNone/>
            </a:pPr>
            <a:r>
              <a:rPr lang="en-US" sz="1100" b="1" dirty="0">
                <a:solidFill>
                  <a:schemeClr val="tx1"/>
                </a:solidFill>
              </a:rPr>
              <a:t>À venir</a:t>
            </a:r>
            <a:endParaRPr lang="en-US" sz="1100" dirty="0"/>
          </a:p>
        </p:txBody>
      </p:sp>
      <p:sp>
        <p:nvSpPr>
          <p:cNvPr id="29" name="Text 27"/>
          <p:cNvSpPr txBox="1"/>
          <p:nvPr/>
        </p:nvSpPr>
        <p:spPr>
          <a:xfrm>
            <a:off x="457200" y="4251960"/>
            <a:ext cx="8229600" cy="274320"/>
          </a:xfrm>
          <a:prstGeom prst="rect">
            <a:avLst/>
          </a:prstGeom>
          <a:noFill/>
          <a:ln/>
        </p:spPr>
        <p:txBody>
          <a:bodyPr wrap="square" lIns="0" tIns="0" rIns="0" bIns="0" rtlCol="0" anchor="ctr"/>
          <a:lstStyle/>
          <a:p>
            <a:pPr indent="0" marL="0">
              <a:buNone/>
            </a:pPr>
            <a:r>
              <a:rPr lang="en-US" sz="1200" dirty="0">
                <a:solidFill>
                  <a:schemeClr val="accent4"/>
                </a:solidFill>
              </a:rPr>
              <a:t>Durées fixées selon le calendrier académique et la disponibilité des interlocuteurs d’ORCA.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07 • GOUVERNANCE</a:t>
            </a:r>
            <a:endParaRPr lang="en-US" sz="1100" dirty="0"/>
          </a:p>
        </p:txBody>
      </p:sp>
      <p:sp>
        <p:nvSpPr>
          <p:cNvPr id="3" name="Text 1"/>
          <p:cNvSpPr/>
          <p:nvPr/>
        </p:nvSpPr>
        <p:spPr>
          <a:xfrm>
            <a:off x="0" y="0"/>
            <a:ext cx="6858000" cy="0"/>
          </a:xfrm>
          <a:prstGeom prst="rect">
            <a:avLst/>
          </a:prstGeom>
          <a:noFill/>
          <a:ln/>
        </p:spPr>
        <p:txBody>
          <a:bodyPr wrap="square" rtlCol="0"/>
          <a:lstStyle/>
          <a:p>
            <a:pPr indent="0" marL="0">
              <a:buNone/>
            </a:pPr>
            <a:r>
              <a:rPr lang="en-US" dirty="0"/>
              <a:t>Risques et mesures de maîtrise</a:t>
            </a:r>
            <a:endParaRPr lang="en-US"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377440"/>
                <a:gridCol w="5852160"/>
              </a:tblGrid>
              <a:tr h="365760">
                <a:tc>
                  <a:txBody>
                    <a:bodyPr/>
                    <a:lstStyle/>
                    <a:p>
                      <a:pPr indent="0" marL="0">
                        <a:buNone/>
                      </a:pPr>
                      <a:r>
                        <a:rPr lang="en-US" sz="1200" b="1" dirty="0">
                          <a:solidFill>
                            <a:srgbClr val="FFFFFF"/>
                          </a:solidFill>
                        </a:rPr>
                        <a:t>Risque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0B0B0F"/>
                    </a:solidFill>
                  </a:tcPr>
                </a:tc>
                <a:tc>
                  <a:txBody>
                    <a:bodyPr/>
                    <a:lstStyle/>
                    <a:p>
                      <a:pPr indent="0" marL="0">
                        <a:buNone/>
                      </a:pPr>
                      <a:r>
                        <a:rPr lang="en-US" sz="1200" b="1" dirty="0">
                          <a:solidFill>
                            <a:srgbClr val="FFFFFF"/>
                          </a:solidFill>
                        </a:rPr>
                        <a:t>Mesure envisagée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0B0B0F"/>
                    </a:solidFill>
                  </a:tcPr>
                </a:tc>
              </a:tr>
              <a:tr h="548640">
                <a:tc>
                  <a:txBody>
                    <a:bodyPr/>
                    <a:lstStyle/>
                    <a:p>
                      <a:pPr indent="0" marL="0">
                        <a:buNone/>
                      </a:pPr>
                      <a:r>
                        <a:rPr lang="en-US" sz="1200" b="1" dirty="0">
                          <a:solidFill>
                            <a:srgbClr val="1558F0"/>
                          </a:solidFill>
                        </a:rPr>
                        <a:t>Accès API non disponible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Démonstration simulée ; demander les conditions d’accès avant de choisir l’opérateur.</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558F0"/>
                          </a:solidFill>
                        </a:rPr>
                        <a:t>Logiciel actuel fermé</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c>
                  <a:txBody>
                    <a:bodyPr/>
                    <a:lstStyle/>
                    <a:p>
                      <a:pPr indent="0" marL="0">
                        <a:buNone/>
                      </a:pPr>
                      <a:r>
                        <a:rPr lang="en-US" sz="1200" dirty="0">
                          <a:solidFill>
                            <a:srgbClr val="0B0B0F"/>
                          </a:solidFill>
                        </a:rPr>
                        <a:t>Étudier une intégration ; sinon, limiter le prototype à un scénario autonome.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r>
              <a:tr h="548640">
                <a:tc>
                  <a:txBody>
                    <a:bodyPr/>
                    <a:lstStyle/>
                    <a:p>
                      <a:pPr indent="0" marL="0">
                        <a:buNone/>
                      </a:pPr>
                      <a:r>
                        <a:rPr lang="en-US" sz="1200" b="1" dirty="0">
                          <a:solidFill>
                            <a:srgbClr val="1558F0"/>
                          </a:solidFill>
                        </a:rPr>
                        <a:t>Données sensibles</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Données fictives en développement et accès limités.</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558F0"/>
                          </a:solidFill>
                        </a:rPr>
                        <a:t>Confirmation tardive / doublon</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c>
                  <a:txBody>
                    <a:bodyPr/>
                    <a:lstStyle/>
                    <a:p>
                      <a:pPr indent="0" marL="0">
                        <a:buNone/>
                      </a:pPr>
                      <a:r>
                        <a:rPr lang="en-US" sz="1200" dirty="0">
                          <a:solidFill>
                            <a:srgbClr val="0B0B0F"/>
                          </a:solidFill>
                        </a:rPr>
                        <a:t>Statuts, références uniques, idempotence et vérifications serveur.</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EAF1FF"/>
                    </a:solidFill>
                  </a:tcPr>
                </a:tc>
              </a:tr>
              <a:tr h="548640">
                <a:tc>
                  <a:txBody>
                    <a:bodyPr/>
                    <a:lstStyle/>
                    <a:p>
                      <a:pPr indent="0" marL="0">
                        <a:buNone/>
                      </a:pPr>
                      <a:r>
                        <a:rPr lang="en-US" sz="1200" b="1" dirty="0">
                          <a:solidFill>
                            <a:srgbClr val="1558F0"/>
                          </a:solidFill>
                        </a:rPr>
                        <a:t>Périmètre trop large</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c>
                  <a:txBody>
                    <a:bodyPr/>
                    <a:lstStyle/>
                    <a:p>
                      <a:pPr indent="0" marL="0">
                        <a:buNone/>
                      </a:pPr>
                      <a:r>
                        <a:rPr lang="en-US" sz="1200" dirty="0">
                          <a:solidFill>
                            <a:srgbClr val="0B0B0F"/>
                          </a:solidFill>
                        </a:rPr>
                        <a:t>Un opérateur, un parcours et des critères de réussite mesurables.</a:t>
                      </a:r>
                      <a:endParaRPr lang="en-US" sz="1200" dirty="0"/>
                    </a:p>
                  </a:txBody>
                  <a:tcPr marL="91440" marR="91440" marT="45720" marB="45720" anchor="ctr">
                    <a:lnL w="6350" cap="flat" cmpd="sng" algn="ctr">
                      <a:solidFill>
                        <a:srgbClr val="D6E2FF"/>
                      </a:solidFill>
                      <a:prstDash val="solid"/>
                      <a:round/>
                      <a:headEnd type="none" w="med" len="med"/>
                      <a:tailEnd type="none" w="med" len="med"/>
                    </a:lnL>
                    <a:lnR w="6350" cap="flat" cmpd="sng" algn="ctr">
                      <a:solidFill>
                        <a:srgbClr val="D6E2FF"/>
                      </a:solidFill>
                      <a:prstDash val="solid"/>
                      <a:round/>
                      <a:headEnd type="none" w="med" len="med"/>
                      <a:tailEnd type="none" w="med" len="med"/>
                    </a:lnR>
                    <a:lnT w="6350" cap="flat" cmpd="sng" algn="ctr">
                      <a:solidFill>
                        <a:srgbClr val="D6E2FF"/>
                      </a:solidFill>
                      <a:prstDash val="solid"/>
                      <a:round/>
                      <a:headEnd type="none" w="med" len="med"/>
                      <a:tailEnd type="none" w="med" len="med"/>
                    </a:lnT>
                    <a:lnB w="6350" cap="flat" cmpd="sng" algn="ctr">
                      <a:solidFill>
                        <a:srgbClr val="D6E2F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4F5C"/>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852160" y="1097280"/>
            <a:ext cx="2834640" cy="2834640"/>
          </a:xfrm>
          <a:prstGeom prst="roundRect">
            <a:avLst>
              <a:gd name="adj" fmla="val 4839"/>
            </a:avLst>
          </a:prstGeom>
          <a:solidFill>
            <a:schemeClr val="bg1"/>
          </a:solidFill>
          <a:ln/>
        </p:spPr>
      </p:sp>
      <p:pic>
        <p:nvPicPr>
          <p:cNvPr id="3" name="Image 0" descr="preencoded.png">    </p:cNvPr>
          <p:cNvPicPr>
            <a:picLocks noChangeAspect="1"/>
          </p:cNvPicPr>
          <p:nvPr/>
        </p:nvPicPr>
        <p:blipFill>
          <a:blip r:embed="rId1"/>
          <a:stretch>
            <a:fillRect/>
          </a:stretch>
        </p:blipFill>
        <p:spPr>
          <a:xfrm>
            <a:off x="5989320" y="1719253"/>
            <a:ext cx="2560320" cy="1590694"/>
          </a:xfrm>
          <a:prstGeom prst="rect">
            <a:avLst/>
          </a:prstGeom>
        </p:spPr>
      </p:pic>
      <p:sp>
        <p:nvSpPr>
          <p:cNvPr id="4" name="Text 1"/>
          <p:cNvSpPr txBox="1"/>
          <p:nvPr/>
        </p:nvSpPr>
        <p:spPr>
          <a:xfrm>
            <a:off x="457200" y="1097280"/>
            <a:ext cx="5029200"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PROCHAINE ÉTAPE</a:t>
            </a:r>
            <a:endParaRPr lang="en-US" sz="1200" dirty="0"/>
          </a:p>
        </p:txBody>
      </p:sp>
      <p:sp>
        <p:nvSpPr>
          <p:cNvPr id="5" name="Text 2"/>
          <p:cNvSpPr txBox="1"/>
          <p:nvPr/>
        </p:nvSpPr>
        <p:spPr>
          <a:xfrm>
            <a:off x="457200" y="1463040"/>
            <a:ext cx="5120640" cy="1280160"/>
          </a:xfrm>
          <a:prstGeom prst="rect">
            <a:avLst/>
          </a:prstGeom>
          <a:noFill/>
          <a:ln/>
        </p:spPr>
        <p:txBody>
          <a:bodyPr wrap="square" lIns="0" tIns="0" rIns="0" bIns="0" rtlCol="0" anchor="t"/>
          <a:lstStyle/>
          <a:p>
            <a:pPr indent="0" marL="0">
              <a:buNone/>
            </a:pPr>
            <a:r>
              <a:rPr lang="en-US" sz="3000" b="1" dirty="0">
                <a:solidFill>
                  <a:schemeClr val="bg1"/>
                </a:solidFill>
              </a:rPr>
              <a:t>Cahier des charges validé : place à la conception</a:t>
            </a:r>
            <a:endParaRPr lang="en-US" sz="3000" dirty="0"/>
          </a:p>
        </p:txBody>
      </p:sp>
      <p:sp>
        <p:nvSpPr>
          <p:cNvPr id="6" name="Text 3"/>
          <p:cNvSpPr txBox="1"/>
          <p:nvPr/>
        </p:nvSpPr>
        <p:spPr>
          <a:xfrm>
            <a:off x="457200" y="2926080"/>
            <a:ext cx="5120640" cy="640080"/>
          </a:xfrm>
          <a:prstGeom prst="rect">
            <a:avLst/>
          </a:prstGeom>
          <a:noFill/>
          <a:ln/>
        </p:spPr>
        <p:txBody>
          <a:bodyPr wrap="square" lIns="0" tIns="0" rIns="0" bIns="0" rtlCol="0" anchor="t"/>
          <a:lstStyle/>
          <a:p>
            <a:pPr indent="0" marL="0">
              <a:buNone/>
            </a:pPr>
            <a:r>
              <a:rPr lang="en-US" sz="1400" dirty="0">
                <a:solidFill>
                  <a:schemeClr val="bg1"/>
                </a:solidFill>
              </a:rPr>
              <a:t>UML  •  Modèle de données  •  Architecture  •  Prototype sur un opérateur pilote</a:t>
            </a:r>
            <a:endParaRPr lang="en-US" sz="1400" dirty="0"/>
          </a:p>
        </p:txBody>
      </p:sp>
      <p:sp>
        <p:nvSpPr>
          <p:cNvPr id="7" name="Text 4"/>
          <p:cNvSpPr txBox="1"/>
          <p:nvPr/>
        </p:nvSpPr>
        <p:spPr>
          <a:xfrm>
            <a:off x="457200" y="3931920"/>
            <a:ext cx="5120640" cy="365760"/>
          </a:xfrm>
          <a:prstGeom prst="rect">
            <a:avLst/>
          </a:prstGeom>
          <a:noFill/>
          <a:ln/>
        </p:spPr>
        <p:txBody>
          <a:bodyPr wrap="square" lIns="0" tIns="0" rIns="0" bIns="0" rtlCol="0" anchor="ctr"/>
          <a:lstStyle/>
          <a:p>
            <a:pPr indent="0" marL="0">
              <a:buNone/>
            </a:pPr>
            <a:r>
              <a:rPr lang="en-US" sz="1800" b="1" dirty="0">
                <a:solidFill>
                  <a:schemeClr val="accent3"/>
                </a:solidFill>
              </a:rPr>
              <a:t>Merci de votre attention</a:t>
            </a:r>
            <a:endParaRPr lang="en-US" sz="1800" dirty="0"/>
          </a:p>
        </p:txBody>
      </p:sp>
    </p:spTree>
  </p:cSld>
  <p:clrMapOvr>
    <a:masterClrMapping/>
  </p:clrMapOvr>
</p:sld>
</file>

<file path=ppt/theme/theme1.xml><?xml version="1.0" encoding="utf-8"?>
<a:theme xmlns:a="http://schemas.openxmlformats.org/drawingml/2006/main" name="ORCA Deco">
  <a:themeElements>
    <a:clrScheme name="ORCA Deco">
      <a:dk1>
        <a:srgbClr val="0B0B0F"/>
      </a:dk1>
      <a:lt1>
        <a:srgbClr val="FFFFFF"/>
      </a:lt1>
      <a:dk2>
        <a:srgbClr val="0A2A66"/>
      </a:dk2>
      <a:lt2>
        <a:srgbClr val="EAF1FF"/>
      </a:lt2>
      <a:accent1>
        <a:srgbClr val="1558F0"/>
      </a:accent1>
      <a:accent2>
        <a:srgbClr val="0A2A66"/>
      </a:accent2>
      <a:accent3>
        <a:srgbClr val="7FA6FF"/>
      </a:accent3>
      <a:accent4>
        <a:srgbClr val="4A4F5C"/>
      </a:accent4>
      <a:accent5>
        <a:srgbClr val="D6E2FF"/>
      </a:accent5>
      <a:accent6>
        <a:srgbClr val="000000"/>
      </a:accent6>
      <a:hlink>
        <a:srgbClr val="1558F0"/>
      </a:hlink>
      <a:folHlink>
        <a:srgbClr val="7FA6FF"/>
      </a:folHlink>
    </a:clrScheme>
    <a:fontScheme name="ORCA Dec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Cahier des charges ORCA Déco CI</dc:title>
  <dc:subject>PptxGenJS Presentation</dc:subject>
  <dc:creator>PptxGenJS</dc:creator>
  <cp:lastModifiedBy>PptxGenJS</cp:lastModifiedBy>
  <cp:revision>1</cp:revision>
  <dcterms:created xsi:type="dcterms:W3CDTF">2026-10-20T00:10:21Z</dcterms:created>
  <dcterms:modified xsi:type="dcterms:W3CDTF">2026-10-20T00:10:21Z</dcterms:modified>
</cp:coreProperties>
</file>